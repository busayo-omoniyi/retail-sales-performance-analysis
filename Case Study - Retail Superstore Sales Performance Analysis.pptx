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30"/>
  </p:handoutMasterIdLst>
  <p:sldIdLst>
    <p:sldId id="256" r:id="rId4"/>
    <p:sldId id="263" r:id="rId6"/>
    <p:sldId id="258" r:id="rId7"/>
    <p:sldId id="264" r:id="rId8"/>
    <p:sldId id="265" r:id="rId9"/>
    <p:sldId id="270" r:id="rId10"/>
    <p:sldId id="267" r:id="rId11"/>
    <p:sldId id="268" r:id="rId12"/>
    <p:sldId id="274" r:id="rId13"/>
    <p:sldId id="282" r:id="rId14"/>
    <p:sldId id="269" r:id="rId15"/>
    <p:sldId id="276" r:id="rId16"/>
    <p:sldId id="277" r:id="rId17"/>
    <p:sldId id="283" r:id="rId18"/>
    <p:sldId id="279" r:id="rId19"/>
    <p:sldId id="280" r:id="rId20"/>
    <p:sldId id="281" r:id="rId21"/>
    <p:sldId id="285" r:id="rId22"/>
    <p:sldId id="284" r:id="rId23"/>
    <p:sldId id="288" r:id="rId24"/>
    <p:sldId id="286" r:id="rId25"/>
    <p:sldId id="289" r:id="rId26"/>
    <p:sldId id="290" r:id="rId27"/>
    <p:sldId id="291" r:id="rId28"/>
    <p:sldId id="292" r:id="rId29"/>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0" userDrawn="1">
          <p15:clr>
            <a:srgbClr val="A4A3A4"/>
          </p15:clr>
        </p15:guide>
        <p15:guide id="2" pos="3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EF81"/>
    <a:srgbClr val="91ACE0"/>
    <a:srgbClr val="9EB5D2"/>
    <a:srgbClr val="B9C1CA"/>
    <a:srgbClr val="F3990B"/>
    <a:srgbClr val="FFFFFF"/>
    <a:srgbClr val="800020"/>
    <a:srgbClr val="BB120F"/>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0"/>
        <p:guide pos="39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tags" Target="tags/tag240.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9" Type="http://schemas.openxmlformats.org/officeDocument/2006/relationships/theme" Target="../theme/theme2.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3.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7" Type="http://schemas.openxmlformats.org/officeDocument/2006/relationships/slideLayout" Target="../slideLayouts/slideLayout2.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5.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4" Type="http://schemas.openxmlformats.org/officeDocument/2006/relationships/slideLayout" Target="../slideLayouts/slideLayout20.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6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64.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7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7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7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80.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8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88.xml"/><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89.xml"/></Relationships>
</file>

<file path=ppt/slides/_rels/slide21.xml.rels><?xml version="1.0" encoding="UTF-8" standalone="yes"?>
<Relationships xmlns="http://schemas.openxmlformats.org/package/2006/relationships"><Relationship Id="rId9" Type="http://schemas.openxmlformats.org/officeDocument/2006/relationships/tags" Target="../tags/tag198.xml"/><Relationship Id="rId8" Type="http://schemas.openxmlformats.org/officeDocument/2006/relationships/tags" Target="../tags/tag19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7" Type="http://schemas.openxmlformats.org/officeDocument/2006/relationships/slideLayout" Target="../slideLayouts/slideLayout20.xml"/><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tags" Target="../tags/tag201.xml"/><Relationship Id="rId11" Type="http://schemas.openxmlformats.org/officeDocument/2006/relationships/tags" Target="../tags/tag200.xml"/><Relationship Id="rId10" Type="http://schemas.openxmlformats.org/officeDocument/2006/relationships/tags" Target="../tags/tag199.xml"/><Relationship Id="rId1" Type="http://schemas.openxmlformats.org/officeDocument/2006/relationships/tags" Target="../tags/tag190.xml"/></Relationships>
</file>

<file path=ppt/slides/_rels/slide22.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6" Type="http://schemas.openxmlformats.org/officeDocument/2006/relationships/slideLayout" Target="../slideLayouts/slideLayout20.xml"/><Relationship Id="rId15" Type="http://schemas.openxmlformats.org/officeDocument/2006/relationships/tags" Target="../tags/tag220.xml"/><Relationship Id="rId14" Type="http://schemas.openxmlformats.org/officeDocument/2006/relationships/tags" Target="../tags/tag219.xml"/><Relationship Id="rId13" Type="http://schemas.openxmlformats.org/officeDocument/2006/relationships/tags" Target="../tags/tag218.xml"/><Relationship Id="rId12" Type="http://schemas.openxmlformats.org/officeDocument/2006/relationships/tags" Target="../tags/tag217.xml"/><Relationship Id="rId11" Type="http://schemas.openxmlformats.org/officeDocument/2006/relationships/tags" Target="../tags/tag216.xml"/><Relationship Id="rId10" Type="http://schemas.openxmlformats.org/officeDocument/2006/relationships/tags" Target="../tags/tag215.xml"/><Relationship Id="rId1" Type="http://schemas.openxmlformats.org/officeDocument/2006/relationships/tags" Target="../tags/tag206.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0.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24.xml.rels><?xml version="1.0" encoding="UTF-8" standalone="yes"?>
<Relationships xmlns="http://schemas.openxmlformats.org/package/2006/relationships"><Relationship Id="rId9" Type="http://schemas.openxmlformats.org/officeDocument/2006/relationships/tags" Target="../tags/tag234.xml"/><Relationship Id="rId8" Type="http://schemas.openxmlformats.org/officeDocument/2006/relationships/tags" Target="../tags/tag233.xml"/><Relationship Id="rId7" Type="http://schemas.openxmlformats.org/officeDocument/2006/relationships/image" Target="../media/image6.png"/><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image" Target="../media/image5.png"/><Relationship Id="rId3" Type="http://schemas.openxmlformats.org/officeDocument/2006/relationships/tags" Target="../tags/tag230.xml"/><Relationship Id="rId2" Type="http://schemas.openxmlformats.org/officeDocument/2006/relationships/tags" Target="../tags/tag229.xml"/><Relationship Id="rId10" Type="http://schemas.openxmlformats.org/officeDocument/2006/relationships/slideLayout" Target="../slideLayouts/slideLayout17.xml"/><Relationship Id="rId1" Type="http://schemas.openxmlformats.org/officeDocument/2006/relationships/tags" Target="../tags/tag228.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tags" Target="../tags/tag239.xml"/><Relationship Id="rId6" Type="http://schemas.openxmlformats.org/officeDocument/2006/relationships/image" Target="../media/image8.png"/><Relationship Id="rId5" Type="http://schemas.openxmlformats.org/officeDocument/2006/relationships/tags" Target="../tags/tag238.xml"/><Relationship Id="rId4" Type="http://schemas.openxmlformats.org/officeDocument/2006/relationships/image" Target="../media/image7.png"/><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1236980"/>
            <a:ext cx="9799200" cy="2570400"/>
          </a:xfrm>
        </p:spPr>
        <p:txBody>
          <a:bodyPr>
            <a:normAutofit/>
          </a:bodyPr>
          <a:p>
            <a:r>
              <a:rPr lang="en-US" altLang="en-US">
                <a:solidFill>
                  <a:schemeClr val="accent1"/>
                </a:solidFill>
              </a:rPr>
              <a:t>Retail Superstore Sales Performance Analysis</a:t>
            </a:r>
            <a:endParaRPr lang="en-US" altLang="en-US">
              <a:solidFill>
                <a:schemeClr val="accent1"/>
              </a:solidFill>
            </a:endParaRPr>
          </a:p>
        </p:txBody>
      </p:sp>
      <p:sp>
        <p:nvSpPr>
          <p:cNvPr id="3" name="Subtitle 2"/>
          <p:cNvSpPr>
            <a:spLocks noGrp="1"/>
          </p:cNvSpPr>
          <p:nvPr>
            <p:ph type="subTitle" idx="1"/>
            <p:custDataLst>
              <p:tags r:id="rId2"/>
            </p:custDataLst>
          </p:nvPr>
        </p:nvSpPr>
        <p:spPr>
          <a:xfrm>
            <a:off x="1198880" y="3883025"/>
            <a:ext cx="9799320" cy="485140"/>
          </a:xfrm>
        </p:spPr>
        <p:txBody>
          <a:bodyPr>
            <a:normAutofit lnSpcReduction="10000"/>
          </a:bodyPr>
          <a:p>
            <a:r>
              <a:rPr lang="en-US" altLang="en-US">
                <a:sym typeface="+mn-ea"/>
              </a:rPr>
              <a:t>SQL + Power BI</a:t>
            </a:r>
            <a:endParaRPr lang="en-US"/>
          </a:p>
        </p:txBody>
      </p:sp>
      <p:sp>
        <p:nvSpPr>
          <p:cNvPr id="4" name="Text Box 3"/>
          <p:cNvSpPr txBox="1"/>
          <p:nvPr/>
        </p:nvSpPr>
        <p:spPr>
          <a:xfrm>
            <a:off x="4066540" y="5251450"/>
            <a:ext cx="4064000" cy="645160"/>
          </a:xfrm>
          <a:prstGeom prst="rect">
            <a:avLst/>
          </a:prstGeom>
          <a:noFill/>
        </p:spPr>
        <p:txBody>
          <a:bodyPr wrap="square" rtlCol="0">
            <a:spAutoFit/>
          </a:bodyPr>
          <a:p>
            <a:pPr algn="ctr"/>
            <a:r>
              <a:rPr lang="en-US">
                <a:latin typeface="Montserrat SemiBold" panose="00000700000000000000" charset="0"/>
                <a:cs typeface="Montserrat SemiBold" panose="00000700000000000000" charset="0"/>
              </a:rPr>
              <a:t>Presented by</a:t>
            </a:r>
            <a:endParaRPr lang="en-US">
              <a:latin typeface="Montserrat SemiBold" panose="00000700000000000000" charset="0"/>
              <a:cs typeface="Montserrat SemiBold" panose="00000700000000000000" charset="0"/>
            </a:endParaRPr>
          </a:p>
          <a:p>
            <a:pPr algn="ctr"/>
            <a:r>
              <a:rPr lang="en-US">
                <a:latin typeface="Montserrat SemiBold" panose="00000700000000000000" charset="0"/>
                <a:cs typeface="Montserrat SemiBold" panose="00000700000000000000" charset="0"/>
              </a:rPr>
              <a:t>Busayo Omoniyi</a:t>
            </a:r>
            <a:endParaRPr lang="en-US">
              <a:latin typeface="Montserrat SemiBold" panose="00000700000000000000" charset="0"/>
              <a:cs typeface="Montserrat SemiBold" panose="00000700000000000000"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sz="half" idx="2"/>
            <p:custDataLst>
              <p:tags r:id="rId1"/>
            </p:custDataLst>
          </p:nvPr>
        </p:nvSpPr>
        <p:spPr>
          <a:xfrm>
            <a:off x="5045710" y="953135"/>
            <a:ext cx="6315075" cy="4951095"/>
          </a:xfrm>
        </p:spPr>
        <p:txBody>
          <a:bodyPr>
            <a:normAutofit lnSpcReduction="10000"/>
          </a:bodyPr>
          <a:p>
            <a:pPr marL="0" indent="0" algn="l"/>
            <a:r>
              <a:rPr lang="en-US" altLang="en-US">
                <a:solidFill>
                  <a:schemeClr val="tx1"/>
                </a:solidFill>
              </a:rPr>
              <a:t>Global Superstore wanted to understand how its sales performance, profitability, customer behavior, and product performance changed over time.</a:t>
            </a:r>
            <a:endParaRPr lang="en-US" altLang="en-US">
              <a:solidFill>
                <a:schemeClr val="tx1"/>
              </a:solidFill>
            </a:endParaRPr>
          </a:p>
          <a:p>
            <a:pPr algn="l"/>
            <a:endParaRPr lang="en-US" altLang="en-US">
              <a:solidFill>
                <a:schemeClr val="tx1"/>
              </a:solidFill>
            </a:endParaRPr>
          </a:p>
          <a:p>
            <a:pPr marL="0" indent="0" algn="l"/>
            <a:r>
              <a:rPr lang="en-US" altLang="en-US">
                <a:solidFill>
                  <a:schemeClr val="tx1"/>
                </a:solidFill>
              </a:rPr>
              <a:t>Using SQL for data analysis and Power BI for visualization, I analyzed transactional data to identify trends, uncover business opportunities, and provide actionable recommendations that support better decision-making.</a:t>
            </a:r>
            <a:endParaRPr lang="en-US" altLang="en-US">
              <a:solidFill>
                <a:schemeClr val="tx1"/>
              </a:solidFill>
            </a:endParaRPr>
          </a:p>
          <a:p>
            <a:pPr algn="l"/>
            <a:endParaRPr lang="en-US" altLang="en-US"/>
          </a:p>
          <a:p>
            <a:pPr algn="l"/>
            <a:r>
              <a:rPr lang="en-US" altLang="en-US" b="1">
                <a:solidFill>
                  <a:schemeClr val="accent1"/>
                </a:solidFill>
              </a:rPr>
              <a:t>Objective</a:t>
            </a:r>
            <a:endParaRPr lang="en-US" altLang="en-US" b="1">
              <a:solidFill>
                <a:schemeClr val="accent1"/>
              </a:solidFill>
            </a:endParaRPr>
          </a:p>
          <a:p>
            <a:pPr marL="15875" indent="-15875" algn="l"/>
            <a:r>
              <a:rPr lang="en-US" altLang="en-US">
                <a:solidFill>
                  <a:schemeClr val="tx1"/>
                </a:solidFill>
              </a:rPr>
              <a:t>Transform raw sales data into meaningful business insights through data cleaning, SQL analysis, interactive dashboards, and data storytelling.</a:t>
            </a:r>
            <a:endParaRPr lang="en-US" altLang="en-US">
              <a:solidFill>
                <a:schemeClr val="tx1"/>
              </a:solidFill>
            </a:endParaRPr>
          </a:p>
        </p:txBody>
      </p:sp>
      <p:cxnSp>
        <p:nvCxnSpPr>
          <p:cNvPr id="7" name="Straight Connector 6"/>
          <p:cNvCxnSpPr/>
          <p:nvPr/>
        </p:nvCxnSpPr>
        <p:spPr>
          <a:xfrm>
            <a:off x="4551045" y="-28575"/>
            <a:ext cx="0" cy="6972935"/>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nvGrpSpPr>
          <p:cNvPr id="13" name="Group 12"/>
          <p:cNvGrpSpPr/>
          <p:nvPr/>
        </p:nvGrpSpPr>
        <p:grpSpPr>
          <a:xfrm>
            <a:off x="-1270" y="1009015"/>
            <a:ext cx="4552315" cy="1025525"/>
            <a:chOff x="-2" y="4152"/>
            <a:chExt cx="7169" cy="1615"/>
          </a:xfrm>
        </p:grpSpPr>
        <p:cxnSp>
          <p:nvCxnSpPr>
            <p:cNvPr id="11" name="Straight Connector 10"/>
            <p:cNvCxnSpPr/>
            <p:nvPr/>
          </p:nvCxnSpPr>
          <p:spPr>
            <a:xfrm>
              <a:off x="-2" y="4152"/>
              <a:ext cx="7146"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21" y="5767"/>
              <a:ext cx="7146"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sp>
        <p:nvSpPr>
          <p:cNvPr id="14" name="Text Placeholder 4"/>
          <p:cNvSpPr>
            <a:spLocks noGrp="1"/>
          </p:cNvSpPr>
          <p:nvPr>
            <p:custDataLst>
              <p:tags r:id="rId2"/>
            </p:custDataLst>
          </p:nvPr>
        </p:nvSpPr>
        <p:spPr>
          <a:xfrm>
            <a:off x="233045" y="1219835"/>
            <a:ext cx="4068445" cy="64135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Aft>
                <a:spcPts val="200"/>
              </a:spcAft>
            </a:pPr>
            <a:r>
              <a:rPr lang="en-US" sz="3600" b="1">
                <a:solidFill>
                  <a:schemeClr val="accent3"/>
                </a:solidFill>
                <a:latin typeface="Times New Roman" panose="02020603050405020304" charset="0"/>
                <a:cs typeface="Times New Roman" panose="02020603050405020304" charset="0"/>
              </a:rPr>
              <a:t>Project Overview</a:t>
            </a:r>
            <a:endParaRPr lang="en-US" sz="3600" b="1">
              <a:solidFill>
                <a:schemeClr val="accent3"/>
              </a:solidFill>
              <a:latin typeface="Times New Roman" panose="02020603050405020304" charset="0"/>
              <a:cs typeface="Times New Roman" panose="02020603050405020304" charset="0"/>
            </a:endParaRPr>
          </a:p>
        </p:txBody>
      </p:sp>
      <p:sp>
        <p:nvSpPr>
          <p:cNvPr id="15" name="Text Box 14"/>
          <p:cNvSpPr txBox="1"/>
          <p:nvPr/>
        </p:nvSpPr>
        <p:spPr>
          <a:xfrm>
            <a:off x="808990" y="2569845"/>
            <a:ext cx="2862580" cy="3206115"/>
          </a:xfrm>
          <a:prstGeom prst="rect">
            <a:avLst/>
          </a:prstGeom>
          <a:noFill/>
        </p:spPr>
        <p:txBody>
          <a:bodyPr wrap="square" rtlCol="0" anchor="t">
            <a:noAutofit/>
          </a:bodyPr>
          <a:p>
            <a:pPr indent="0" fontAlgn="auto"/>
            <a:r>
              <a:rPr lang="en-US" altLang="en-US" u="sng"/>
              <a:t>TOOLS:</a:t>
            </a:r>
            <a:endParaRPr lang="en-US" altLang="en-US" u="sng"/>
          </a:p>
          <a:p>
            <a:pPr indent="0" fontAlgn="auto"/>
            <a:endParaRPr lang="en-US" altLang="en-US"/>
          </a:p>
          <a:p>
            <a:pPr indent="0" fontAlgn="auto"/>
            <a:r>
              <a:rPr lang="en-US" altLang="en-US"/>
              <a:t>SQL</a:t>
            </a:r>
            <a:endParaRPr lang="en-US" altLang="en-US"/>
          </a:p>
          <a:p>
            <a:pPr indent="0" fontAlgn="auto"/>
            <a:r>
              <a:rPr lang="en-US" altLang="en-US"/>
              <a:t>Power BI</a:t>
            </a:r>
            <a:endParaRPr lang="en-US" altLang="en-US"/>
          </a:p>
          <a:p>
            <a:pPr indent="0" fontAlgn="auto"/>
            <a:r>
              <a:rPr lang="en-US" altLang="en-US"/>
              <a:t>Excel</a:t>
            </a:r>
            <a:endParaRPr lang="en-US" altLang="en-US"/>
          </a:p>
          <a:p>
            <a:pPr indent="0" fontAlgn="auto"/>
            <a:r>
              <a:rPr lang="en-US" altLang="en-US"/>
              <a:t>----------------</a:t>
            </a:r>
            <a:endParaRPr lang="en-US" altLang="en-US"/>
          </a:p>
          <a:p>
            <a:pPr indent="0" fontAlgn="auto"/>
            <a:r>
              <a:rPr lang="en-US" altLang="en-US"/>
              <a:t>DATASET:</a:t>
            </a:r>
            <a:endParaRPr lang="en-US" altLang="en-US"/>
          </a:p>
          <a:p>
            <a:pPr indent="0" fontAlgn="auto"/>
            <a:r>
              <a:rPr lang="en-US" altLang="en-US"/>
              <a:t>Global Superstore</a:t>
            </a:r>
            <a:endParaRPr lang="en-US" altLang="en-US"/>
          </a:p>
          <a:p>
            <a:pPr indent="0" fontAlgn="auto"/>
            <a:r>
              <a:rPr lang="en-US" altLang="en-US"/>
              <a:t>----------------</a:t>
            </a:r>
            <a:endParaRPr lang="en-US" altLang="en-US"/>
          </a:p>
          <a:p>
            <a:pPr indent="0" fontAlgn="auto"/>
            <a:r>
              <a:rPr lang="en-US" altLang="en-US"/>
              <a:t>ROLE:</a:t>
            </a:r>
            <a:endParaRPr lang="en-US" altLang="en-US"/>
          </a:p>
          <a:p>
            <a:pPr indent="0" fontAlgn="auto"/>
            <a:r>
              <a:rPr lang="en-US" altLang="en-US"/>
              <a:t>Data Analyst</a:t>
            </a:r>
            <a:endParaRPr 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custDataLst>
              <p:tags r:id="rId1"/>
            </p:custDataLst>
          </p:nvPr>
        </p:nvSpPr>
        <p:spPr>
          <a:xfrm>
            <a:off x="701040" y="5937250"/>
            <a:ext cx="10968990" cy="471805"/>
          </a:xfrm>
        </p:spPr>
        <p:txBody>
          <a:bodyPr>
            <a:normAutofit/>
          </a:bodyPr>
          <a:p>
            <a:pPr marL="0" indent="0" algn="ctr">
              <a:lnSpc>
                <a:spcPct val="100000"/>
              </a:lnSpc>
              <a:buNone/>
            </a:pPr>
            <a:r>
              <a:rPr lang="en-US" altLang="en-US">
                <a:latin typeface="Times New Roman" panose="02020603050405020304" charset="0"/>
                <a:cs typeface="Times New Roman" panose="02020603050405020304" charset="0"/>
              </a:rPr>
              <a:t>This analysis was conducted to answer the above business questions</a:t>
            </a:r>
            <a:endParaRPr lang="en-US" altLang="en-US">
              <a:latin typeface="Times New Roman" panose="02020603050405020304" charset="0"/>
              <a:cs typeface="Times New Roman" panose="02020603050405020304" charset="0"/>
            </a:endParaRPr>
          </a:p>
        </p:txBody>
      </p:sp>
      <p:sp>
        <p:nvSpPr>
          <p:cNvPr id="21" name="对象13"/>
          <p:cNvSpPr/>
          <p:nvPr>
            <p:custDataLst>
              <p:tags r:id="rId2"/>
            </p:custDataLst>
          </p:nvPr>
        </p:nvSpPr>
        <p:spPr>
          <a:xfrm>
            <a:off x="4526280" y="1912938"/>
            <a:ext cx="3112748" cy="2771796"/>
          </a:xfrm>
          <a:custGeom>
            <a:avLst/>
            <a:gdLst>
              <a:gd name="connsiteX0" fmla="*/ 2818 w 4072"/>
              <a:gd name="connsiteY0" fmla="*/ 7 h 3674"/>
              <a:gd name="connsiteX1" fmla="*/ 3244 w 4072"/>
              <a:gd name="connsiteY1" fmla="*/ 262 h 3674"/>
              <a:gd name="connsiteX2" fmla="*/ 4007 w 4072"/>
              <a:gd name="connsiteY2" fmla="*/ 1601 h 3674"/>
              <a:gd name="connsiteX3" fmla="*/ 4007 w 4072"/>
              <a:gd name="connsiteY3" fmla="*/ 2091 h 3674"/>
              <a:gd name="connsiteX4" fmla="*/ 3244 w 4072"/>
              <a:gd name="connsiteY4" fmla="*/ 3430 h 3674"/>
              <a:gd name="connsiteX5" fmla="*/ 2812 w 4072"/>
              <a:gd name="connsiteY5" fmla="*/ 3675 h 3674"/>
              <a:gd name="connsiteX6" fmla="*/ 1271 w 4072"/>
              <a:gd name="connsiteY6" fmla="*/ 3675 h 3674"/>
              <a:gd name="connsiteX7" fmla="*/ 839 w 4072"/>
              <a:gd name="connsiteY7" fmla="*/ 3430 h 3674"/>
              <a:gd name="connsiteX8" fmla="*/ 76 w 4072"/>
              <a:gd name="connsiteY8" fmla="*/ 2091 h 3674"/>
              <a:gd name="connsiteX9" fmla="*/ 76 w 4072"/>
              <a:gd name="connsiteY9" fmla="*/ 1601 h 3674"/>
              <a:gd name="connsiteX10" fmla="*/ 839 w 4072"/>
              <a:gd name="connsiteY10" fmla="*/ 262 h 3674"/>
              <a:gd name="connsiteX11" fmla="*/ 1271 w 4072"/>
              <a:gd name="connsiteY11" fmla="*/ 17 h 3674"/>
              <a:gd name="connsiteX12" fmla="*/ 2818 w 4072"/>
              <a:gd name="connsiteY12" fmla="*/ 7 h 3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2" h="3675">
                <a:moveTo>
                  <a:pt x="2818" y="7"/>
                </a:moveTo>
                <a:cubicBezTo>
                  <a:pt x="2991" y="7"/>
                  <a:pt x="3158" y="118"/>
                  <a:pt x="3244" y="262"/>
                </a:cubicBezTo>
                <a:lnTo>
                  <a:pt x="4007" y="1601"/>
                </a:lnTo>
                <a:cubicBezTo>
                  <a:pt x="4094" y="1745"/>
                  <a:pt x="4094" y="1947"/>
                  <a:pt x="4007" y="2091"/>
                </a:cubicBezTo>
                <a:lnTo>
                  <a:pt x="3244" y="3430"/>
                </a:lnTo>
                <a:cubicBezTo>
                  <a:pt x="3158" y="3588"/>
                  <a:pt x="2985" y="3675"/>
                  <a:pt x="2812" y="3675"/>
                </a:cubicBezTo>
                <a:lnTo>
                  <a:pt x="1271" y="3675"/>
                </a:lnTo>
                <a:cubicBezTo>
                  <a:pt x="1098" y="3675"/>
                  <a:pt x="926" y="3588"/>
                  <a:pt x="839" y="3430"/>
                </a:cubicBezTo>
                <a:lnTo>
                  <a:pt x="76" y="2091"/>
                </a:lnTo>
                <a:cubicBezTo>
                  <a:pt x="-25" y="1947"/>
                  <a:pt x="-25" y="1745"/>
                  <a:pt x="76" y="1601"/>
                </a:cubicBezTo>
                <a:lnTo>
                  <a:pt x="839" y="262"/>
                </a:lnTo>
                <a:cubicBezTo>
                  <a:pt x="926" y="118"/>
                  <a:pt x="1098" y="-55"/>
                  <a:pt x="1271" y="17"/>
                </a:cubicBezTo>
                <a:lnTo>
                  <a:pt x="2818" y="7"/>
                </a:lnTo>
              </a:path>
            </a:pathLst>
          </a:custGeom>
          <a:solidFill>
            <a:srgbClr val="5664FF">
              <a:alpha val="5000"/>
            </a:srgbClr>
          </a:solidFill>
          <a:ln w="25400">
            <a:noFill/>
          </a:ln>
          <a:effectLst/>
        </p:spPr>
        <p:style>
          <a:lnRef idx="2">
            <a:srgbClr val="5664FF">
              <a:lumMod val="75000"/>
            </a:srgbClr>
          </a:lnRef>
          <a:fillRef idx="1">
            <a:srgbClr val="5664FF"/>
          </a:fillRef>
          <a:effectRef idx="0">
            <a:srgbClr val="FFFFFF"/>
          </a:effectRef>
          <a:fontRef idx="minor">
            <a:srgbClr val="FFFFFF"/>
          </a:fontRef>
        </p:style>
        <p:txBody>
          <a:bodyPr>
            <a:noAutofit/>
          </a:bodyPr>
          <a:p>
            <a:pPr>
              <a:lnSpc>
                <a:spcPct val="100000"/>
              </a:lnSpc>
            </a:pPr>
            <a:endParaRPr lang="en-US">
              <a:solidFill>
                <a:srgbClr val="FFFFFF"/>
              </a:solidFill>
              <a:latin typeface="Times New Roman" panose="02020603050405020304" charset="0"/>
              <a:cs typeface="Times New Roman" panose="02020603050405020304" charset="0"/>
            </a:endParaRPr>
          </a:p>
        </p:txBody>
      </p:sp>
      <p:sp>
        <p:nvSpPr>
          <p:cNvPr id="65" name="对象1"/>
          <p:cNvSpPr/>
          <p:nvPr>
            <p:custDataLst>
              <p:tags r:id="rId3"/>
            </p:custDataLst>
          </p:nvPr>
        </p:nvSpPr>
        <p:spPr>
          <a:xfrm flipH="1">
            <a:off x="1369060" y="1071563"/>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rgbClr val="2330C5">
                    <a:lumMod val="40000"/>
                    <a:lumOff val="60000"/>
                    <a:alpha val="60000"/>
                  </a:srgbClr>
                </a:gs>
                <a:gs pos="100000">
                  <a:srgbClr val="5664FF">
                    <a:lumMod val="20000"/>
                    <a:lumOff val="80000"/>
                    <a:alpha val="0"/>
                  </a:srgbClr>
                </a:gs>
              </a:gsLst>
              <a:lin ang="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324000" tIns="0" rIns="648000" numCol="1" spcCol="0" rtlCol="0" fromWordArt="0" anchor="ctr" anchorCtr="1" forceAA="0" compatLnSpc="1">
            <a:normAutofit/>
          </a:bodyPr>
          <a:p>
            <a:pPr indent="0" algn="r" fontAlgn="auto">
              <a:lnSpc>
                <a:spcPct val="100000"/>
              </a:lnSpc>
              <a:spcBef>
                <a:spcPct val="0"/>
              </a:spcBef>
              <a:spcAft>
                <a:spcPct val="0"/>
              </a:spcAft>
            </a:pPr>
            <a:r>
              <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How is overall sales performance changing over time?</a:t>
            </a:r>
            <a:endPar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67" name="对象2"/>
          <p:cNvSpPr/>
          <p:nvPr>
            <p:custDataLst>
              <p:tags r:id="rId4"/>
            </p:custDataLst>
          </p:nvPr>
        </p:nvSpPr>
        <p:spPr>
          <a:xfrm flipH="1">
            <a:off x="1369060" y="4244023"/>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rgbClr val="2330C5">
                    <a:lumMod val="40000"/>
                    <a:lumOff val="60000"/>
                    <a:alpha val="60000"/>
                  </a:srgbClr>
                </a:gs>
                <a:gs pos="100000">
                  <a:srgbClr val="5664FF">
                    <a:lumMod val="20000"/>
                    <a:lumOff val="80000"/>
                    <a:alpha val="0"/>
                  </a:srgbClr>
                </a:gs>
              </a:gsLst>
              <a:lin ang="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324000" tIns="0" rIns="64800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Who are the company's most valuable customers?</a:t>
            </a: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69" name="对象3"/>
          <p:cNvSpPr/>
          <p:nvPr>
            <p:custDataLst>
              <p:tags r:id="rId5"/>
            </p:custDataLst>
          </p:nvPr>
        </p:nvSpPr>
        <p:spPr>
          <a:xfrm flipH="1">
            <a:off x="701040" y="2649538"/>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rgbClr val="2330C5">
                    <a:lumMod val="40000"/>
                    <a:lumOff val="60000"/>
                    <a:alpha val="60000"/>
                  </a:srgbClr>
                </a:gs>
                <a:gs pos="100000">
                  <a:srgbClr val="5664FF">
                    <a:lumMod val="20000"/>
                    <a:lumOff val="80000"/>
                    <a:alpha val="0"/>
                  </a:srgbClr>
                </a:gs>
              </a:gsLst>
              <a:lin ang="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324000" tIns="0" rIns="64800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Which products require management attention?</a:t>
            </a:r>
            <a:endPar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71" name="对象4"/>
          <p:cNvSpPr/>
          <p:nvPr>
            <p:custDataLst>
              <p:tags r:id="rId6"/>
            </p:custDataLst>
          </p:nvPr>
        </p:nvSpPr>
        <p:spPr>
          <a:xfrm flipH="1">
            <a:off x="6961505" y="1084898"/>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rgbClr val="2330C5">
                    <a:lumMod val="40000"/>
                    <a:lumOff val="60000"/>
                    <a:alpha val="60000"/>
                  </a:srgbClr>
                </a:gs>
                <a:gs pos="100000">
                  <a:srgbClr val="5664FF">
                    <a:lumMod val="20000"/>
                    <a:lumOff val="80000"/>
                    <a:alpha val="0"/>
                  </a:srgbClr>
                </a:gs>
              </a:gsLst>
              <a:lin ang="1080000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648000" tIns="0" rIns="323850" numCol="1" spcCol="0" rtlCol="0" fromWordArt="0" anchor="ctr" anchorCtr="1" forceAA="0" compatLnSpc="1">
            <a:normAutofit lnSpcReduction="10000"/>
          </a:bodyPr>
          <a:p>
            <a:pPr indent="0" fontAlgn="auto">
              <a:lnSpc>
                <a:spcPct val="100000"/>
              </a:lnSpc>
              <a:spcBef>
                <a:spcPct val="0"/>
              </a:spcBef>
              <a:spcAft>
                <a:spcPct val="0"/>
              </a:spcAft>
            </a:pPr>
            <a:r>
              <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Which regions, categories, and customer segments generate the highest revenue?</a:t>
            </a: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73" name="对象5"/>
          <p:cNvSpPr/>
          <p:nvPr>
            <p:custDataLst>
              <p:tags r:id="rId7"/>
            </p:custDataLst>
          </p:nvPr>
        </p:nvSpPr>
        <p:spPr>
          <a:xfrm flipH="1">
            <a:off x="6961505" y="4223703"/>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rgbClr val="2330C5">
                    <a:lumMod val="40000"/>
                    <a:lumOff val="60000"/>
                    <a:alpha val="60000"/>
                  </a:srgbClr>
                </a:gs>
                <a:gs pos="100000">
                  <a:srgbClr val="5664FF">
                    <a:lumMod val="20000"/>
                    <a:lumOff val="80000"/>
                    <a:alpha val="0"/>
                  </a:srgbClr>
                </a:gs>
              </a:gsLst>
              <a:lin ang="1080000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648000" tIns="0" rIns="32385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How do discounts affect profitability?</a:t>
            </a:r>
            <a:endPar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a:p>
            <a:pPr indent="0" fontAlgn="auto">
              <a:lnSpc>
                <a:spcPct val="100000"/>
              </a:lnSpc>
              <a:spcBef>
                <a:spcPct val="0"/>
              </a:spcBef>
              <a:spcAft>
                <a:spcPct val="0"/>
              </a:spcAft>
            </a:pP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75" name="对象6"/>
          <p:cNvSpPr/>
          <p:nvPr>
            <p:custDataLst>
              <p:tags r:id="rId8"/>
            </p:custDataLst>
          </p:nvPr>
        </p:nvSpPr>
        <p:spPr>
          <a:xfrm flipH="1">
            <a:off x="7650480" y="2653983"/>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rgbClr val="2330C5">
                    <a:lumMod val="40000"/>
                    <a:lumOff val="60000"/>
                    <a:alpha val="60000"/>
                  </a:srgbClr>
                </a:gs>
                <a:gs pos="100000">
                  <a:srgbClr val="5664FF">
                    <a:lumMod val="20000"/>
                    <a:lumOff val="80000"/>
                    <a:alpha val="0"/>
                  </a:srgbClr>
                </a:gs>
              </a:gsLst>
              <a:lin ang="1080000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648000" tIns="0" rIns="32385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Which product categories contribute the most to profit?</a:t>
            </a: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22" name="对象7"/>
          <p:cNvSpPr/>
          <p:nvPr>
            <p:custDataLst>
              <p:tags r:id="rId9"/>
            </p:custDataLst>
          </p:nvPr>
        </p:nvSpPr>
        <p:spPr>
          <a:xfrm>
            <a:off x="4895850" y="150145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dirty="0">
                <a:solidFill>
                  <a:srgbClr val="FFFFFF"/>
                </a:solidFill>
                <a:latin typeface="Times New Roman" panose="02020603050405020304" charset="0"/>
                <a:cs typeface="Times New Roman" panose="02020603050405020304" charset="0"/>
                <a:sym typeface="Arial" panose="020B0604020202020204" pitchFamily="34" charset="0"/>
              </a:rPr>
              <a:t>01</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4" name="对象7"/>
          <p:cNvSpPr/>
          <p:nvPr>
            <p:custDataLst>
              <p:tags r:id="rId10"/>
            </p:custDataLst>
          </p:nvPr>
        </p:nvSpPr>
        <p:spPr>
          <a:xfrm>
            <a:off x="6615430" y="150145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02</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5" name="对象7"/>
          <p:cNvSpPr/>
          <p:nvPr>
            <p:custDataLst>
              <p:tags r:id="rId11"/>
            </p:custDataLst>
          </p:nvPr>
        </p:nvSpPr>
        <p:spPr>
          <a:xfrm>
            <a:off x="4895850" y="446309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05</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6" name="对象7"/>
          <p:cNvSpPr/>
          <p:nvPr>
            <p:custDataLst>
              <p:tags r:id="rId12"/>
            </p:custDataLst>
          </p:nvPr>
        </p:nvSpPr>
        <p:spPr>
          <a:xfrm>
            <a:off x="6615430" y="446309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04</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7" name="对象7"/>
          <p:cNvSpPr/>
          <p:nvPr>
            <p:custDataLst>
              <p:tags r:id="rId13"/>
            </p:custDataLst>
          </p:nvPr>
        </p:nvSpPr>
        <p:spPr>
          <a:xfrm>
            <a:off x="4129405" y="301656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06</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8" name="对象7"/>
          <p:cNvSpPr/>
          <p:nvPr>
            <p:custDataLst>
              <p:tags r:id="rId14"/>
            </p:custDataLst>
          </p:nvPr>
        </p:nvSpPr>
        <p:spPr>
          <a:xfrm>
            <a:off x="7406005" y="301656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03</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9" name="任意多边形: 形状 11"/>
          <p:cNvSpPr/>
          <p:nvPr>
            <p:custDataLst>
              <p:tags r:id="rId15"/>
            </p:custDataLst>
          </p:nvPr>
        </p:nvSpPr>
        <p:spPr>
          <a:xfrm>
            <a:off x="4924425" y="2281238"/>
            <a:ext cx="2315670" cy="2035410"/>
          </a:xfrm>
          <a:custGeom>
            <a:avLst/>
            <a:gdLst>
              <a:gd name="connsiteX0" fmla="*/ 15684 w 2306019"/>
              <a:gd name="connsiteY0" fmla="*/ 960560 h 2035410"/>
              <a:gd name="connsiteX1" fmla="*/ 537270 w 2306019"/>
              <a:gd name="connsiteY1" fmla="*/ 57161 h 2035410"/>
              <a:gd name="connsiteX2" fmla="*/ 636258 w 2306019"/>
              <a:gd name="connsiteY2" fmla="*/ 0 h 2035410"/>
              <a:gd name="connsiteX3" fmla="*/ 1679418 w 2306019"/>
              <a:gd name="connsiteY3" fmla="*/ 0 h 2035410"/>
              <a:gd name="connsiteX4" fmla="*/ 1778390 w 2306019"/>
              <a:gd name="connsiteY4" fmla="*/ 57145 h 2035410"/>
              <a:gd name="connsiteX5" fmla="*/ 2299977 w 2306019"/>
              <a:gd name="connsiteY5" fmla="*/ 960544 h 2035410"/>
              <a:gd name="connsiteX6" fmla="*/ 2299986 w 2306019"/>
              <a:gd name="connsiteY6" fmla="*/ 1074850 h 2035410"/>
              <a:gd name="connsiteX7" fmla="*/ 1778399 w 2306019"/>
              <a:gd name="connsiteY7" fmla="*/ 1978249 h 2035410"/>
              <a:gd name="connsiteX8" fmla="*/ 1679411 w 2306019"/>
              <a:gd name="connsiteY8" fmla="*/ 2035410 h 2035410"/>
              <a:gd name="connsiteX9" fmla="*/ 636251 w 2306019"/>
              <a:gd name="connsiteY9" fmla="*/ 2035410 h 2035410"/>
              <a:gd name="connsiteX10" fmla="*/ 537279 w 2306019"/>
              <a:gd name="connsiteY10" fmla="*/ 1978265 h 2035410"/>
              <a:gd name="connsiteX11" fmla="*/ 15693 w 2306019"/>
              <a:gd name="connsiteY11" fmla="*/ 1074866 h 2035410"/>
              <a:gd name="connsiteX12" fmla="*/ 15684 w 2306019"/>
              <a:gd name="connsiteY12" fmla="*/ 960560 h 2035410"/>
              <a:gd name="connsiteX0-1" fmla="*/ 15684 w 2306019"/>
              <a:gd name="connsiteY0-2" fmla="*/ 960560 h 2035410"/>
              <a:gd name="connsiteX1-3" fmla="*/ 537270 w 2306019"/>
              <a:gd name="connsiteY1-4" fmla="*/ 57161 h 2035410"/>
              <a:gd name="connsiteX2-5" fmla="*/ 636258 w 2306019"/>
              <a:gd name="connsiteY2-6" fmla="*/ 0 h 2035410"/>
              <a:gd name="connsiteX3-7" fmla="*/ 1679418 w 2306019"/>
              <a:gd name="connsiteY3-8" fmla="*/ 0 h 2035410"/>
              <a:gd name="connsiteX4-9" fmla="*/ 1778390 w 2306019"/>
              <a:gd name="connsiteY4-10" fmla="*/ 57145 h 2035410"/>
              <a:gd name="connsiteX5-11" fmla="*/ 2299977 w 2306019"/>
              <a:gd name="connsiteY5-12" fmla="*/ 960544 h 2035410"/>
              <a:gd name="connsiteX6-13" fmla="*/ 2299986 w 2306019"/>
              <a:gd name="connsiteY6-14" fmla="*/ 1074850 h 2035410"/>
              <a:gd name="connsiteX7-15" fmla="*/ 1778399 w 2306019"/>
              <a:gd name="connsiteY7-16" fmla="*/ 1978249 h 2035410"/>
              <a:gd name="connsiteX8-17" fmla="*/ 1679411 w 2306019"/>
              <a:gd name="connsiteY8-18" fmla="*/ 2035410 h 2035410"/>
              <a:gd name="connsiteX9-19" fmla="*/ 636251 w 2306019"/>
              <a:gd name="connsiteY9-20" fmla="*/ 2035410 h 2035410"/>
              <a:gd name="connsiteX10-21" fmla="*/ 537279 w 2306019"/>
              <a:gd name="connsiteY10-22" fmla="*/ 1978265 h 2035410"/>
              <a:gd name="connsiteX11-23" fmla="*/ 15693 w 2306019"/>
              <a:gd name="connsiteY11-24" fmla="*/ 1074866 h 2035410"/>
              <a:gd name="connsiteX12-25" fmla="*/ 15684 w 2306019"/>
              <a:gd name="connsiteY12-26" fmla="*/ 960560 h 2035410"/>
              <a:gd name="connsiteX0-27" fmla="*/ 15684 w 2306019"/>
              <a:gd name="connsiteY0-28" fmla="*/ 960560 h 2035410"/>
              <a:gd name="connsiteX1-29" fmla="*/ 537270 w 2306019"/>
              <a:gd name="connsiteY1-30" fmla="*/ 57161 h 2035410"/>
              <a:gd name="connsiteX2-31" fmla="*/ 636258 w 2306019"/>
              <a:gd name="connsiteY2-32" fmla="*/ 0 h 2035410"/>
              <a:gd name="connsiteX3-33" fmla="*/ 1679418 w 2306019"/>
              <a:gd name="connsiteY3-34" fmla="*/ 0 h 2035410"/>
              <a:gd name="connsiteX4-35" fmla="*/ 1778390 w 2306019"/>
              <a:gd name="connsiteY4-36" fmla="*/ 57145 h 2035410"/>
              <a:gd name="connsiteX5-37" fmla="*/ 2299977 w 2306019"/>
              <a:gd name="connsiteY5-38" fmla="*/ 960544 h 2035410"/>
              <a:gd name="connsiteX6-39" fmla="*/ 2299986 w 2306019"/>
              <a:gd name="connsiteY6-40" fmla="*/ 1074850 h 2035410"/>
              <a:gd name="connsiteX7-41" fmla="*/ 1778399 w 2306019"/>
              <a:gd name="connsiteY7-42" fmla="*/ 1978249 h 2035410"/>
              <a:gd name="connsiteX8-43" fmla="*/ 1679411 w 2306019"/>
              <a:gd name="connsiteY8-44" fmla="*/ 2035410 h 2035410"/>
              <a:gd name="connsiteX9-45" fmla="*/ 636251 w 2306019"/>
              <a:gd name="connsiteY9-46" fmla="*/ 2035410 h 2035410"/>
              <a:gd name="connsiteX10-47" fmla="*/ 537279 w 2306019"/>
              <a:gd name="connsiteY10-48" fmla="*/ 1978265 h 2035410"/>
              <a:gd name="connsiteX11-49" fmla="*/ 15693 w 2306019"/>
              <a:gd name="connsiteY11-50" fmla="*/ 1074866 h 2035410"/>
              <a:gd name="connsiteX12-51" fmla="*/ 15684 w 2306019"/>
              <a:gd name="connsiteY12-52" fmla="*/ 960560 h 2035410"/>
              <a:gd name="connsiteX0-53" fmla="*/ 15684 w 2306019"/>
              <a:gd name="connsiteY0-54" fmla="*/ 960560 h 2035410"/>
              <a:gd name="connsiteX1-55" fmla="*/ 537270 w 2306019"/>
              <a:gd name="connsiteY1-56" fmla="*/ 57161 h 2035410"/>
              <a:gd name="connsiteX2-57" fmla="*/ 636258 w 2306019"/>
              <a:gd name="connsiteY2-58" fmla="*/ 0 h 2035410"/>
              <a:gd name="connsiteX3-59" fmla="*/ 1679418 w 2306019"/>
              <a:gd name="connsiteY3-60" fmla="*/ 0 h 2035410"/>
              <a:gd name="connsiteX4-61" fmla="*/ 1778390 w 2306019"/>
              <a:gd name="connsiteY4-62" fmla="*/ 57145 h 2035410"/>
              <a:gd name="connsiteX5-63" fmla="*/ 2299977 w 2306019"/>
              <a:gd name="connsiteY5-64" fmla="*/ 960544 h 2035410"/>
              <a:gd name="connsiteX6-65" fmla="*/ 2299986 w 2306019"/>
              <a:gd name="connsiteY6-66" fmla="*/ 1074850 h 2035410"/>
              <a:gd name="connsiteX7-67" fmla="*/ 1778399 w 2306019"/>
              <a:gd name="connsiteY7-68" fmla="*/ 1978249 h 2035410"/>
              <a:gd name="connsiteX8-69" fmla="*/ 1679411 w 2306019"/>
              <a:gd name="connsiteY8-70" fmla="*/ 2035410 h 2035410"/>
              <a:gd name="connsiteX9-71" fmla="*/ 636251 w 2306019"/>
              <a:gd name="connsiteY9-72" fmla="*/ 2035410 h 2035410"/>
              <a:gd name="connsiteX10-73" fmla="*/ 537279 w 2306019"/>
              <a:gd name="connsiteY10-74" fmla="*/ 1978265 h 2035410"/>
              <a:gd name="connsiteX11-75" fmla="*/ 15693 w 2306019"/>
              <a:gd name="connsiteY11-76" fmla="*/ 1074866 h 2035410"/>
              <a:gd name="connsiteX12-77" fmla="*/ 15684 w 2306019"/>
              <a:gd name="connsiteY12-78" fmla="*/ 960560 h 2035410"/>
              <a:gd name="connsiteX0-79" fmla="*/ 15684 w 2306019"/>
              <a:gd name="connsiteY0-80" fmla="*/ 960560 h 2035410"/>
              <a:gd name="connsiteX1-81" fmla="*/ 537270 w 2306019"/>
              <a:gd name="connsiteY1-82" fmla="*/ 57161 h 2035410"/>
              <a:gd name="connsiteX2-83" fmla="*/ 636258 w 2306019"/>
              <a:gd name="connsiteY2-84" fmla="*/ 0 h 2035410"/>
              <a:gd name="connsiteX3-85" fmla="*/ 1679418 w 2306019"/>
              <a:gd name="connsiteY3-86" fmla="*/ 0 h 2035410"/>
              <a:gd name="connsiteX4-87" fmla="*/ 1778390 w 2306019"/>
              <a:gd name="connsiteY4-88" fmla="*/ 57145 h 2035410"/>
              <a:gd name="connsiteX5-89" fmla="*/ 2299977 w 2306019"/>
              <a:gd name="connsiteY5-90" fmla="*/ 960544 h 2035410"/>
              <a:gd name="connsiteX6-91" fmla="*/ 2299986 w 2306019"/>
              <a:gd name="connsiteY6-92" fmla="*/ 1074850 h 2035410"/>
              <a:gd name="connsiteX7-93" fmla="*/ 1778399 w 2306019"/>
              <a:gd name="connsiteY7-94" fmla="*/ 1978249 h 2035410"/>
              <a:gd name="connsiteX8-95" fmla="*/ 1679411 w 2306019"/>
              <a:gd name="connsiteY8-96" fmla="*/ 2035410 h 2035410"/>
              <a:gd name="connsiteX9-97" fmla="*/ 636251 w 2306019"/>
              <a:gd name="connsiteY9-98" fmla="*/ 2035410 h 2035410"/>
              <a:gd name="connsiteX10-99" fmla="*/ 537279 w 2306019"/>
              <a:gd name="connsiteY10-100" fmla="*/ 1978265 h 2035410"/>
              <a:gd name="connsiteX11-101" fmla="*/ 15693 w 2306019"/>
              <a:gd name="connsiteY11-102" fmla="*/ 1074866 h 2035410"/>
              <a:gd name="connsiteX12-103" fmla="*/ 15684 w 2306019"/>
              <a:gd name="connsiteY12-104" fmla="*/ 960560 h 2035410"/>
              <a:gd name="connsiteX0-105" fmla="*/ 15684 w 2306019"/>
              <a:gd name="connsiteY0-106" fmla="*/ 960560 h 2035410"/>
              <a:gd name="connsiteX1-107" fmla="*/ 537270 w 2306019"/>
              <a:gd name="connsiteY1-108" fmla="*/ 57161 h 2035410"/>
              <a:gd name="connsiteX2-109" fmla="*/ 636258 w 2306019"/>
              <a:gd name="connsiteY2-110" fmla="*/ 0 h 2035410"/>
              <a:gd name="connsiteX3-111" fmla="*/ 1679418 w 2306019"/>
              <a:gd name="connsiteY3-112" fmla="*/ 0 h 2035410"/>
              <a:gd name="connsiteX4-113" fmla="*/ 1778390 w 2306019"/>
              <a:gd name="connsiteY4-114" fmla="*/ 57145 h 2035410"/>
              <a:gd name="connsiteX5-115" fmla="*/ 2299977 w 2306019"/>
              <a:gd name="connsiteY5-116" fmla="*/ 960544 h 2035410"/>
              <a:gd name="connsiteX6-117" fmla="*/ 2299986 w 2306019"/>
              <a:gd name="connsiteY6-118" fmla="*/ 1074850 h 2035410"/>
              <a:gd name="connsiteX7-119" fmla="*/ 1778399 w 2306019"/>
              <a:gd name="connsiteY7-120" fmla="*/ 1978249 h 2035410"/>
              <a:gd name="connsiteX8-121" fmla="*/ 1679411 w 2306019"/>
              <a:gd name="connsiteY8-122" fmla="*/ 2035410 h 2035410"/>
              <a:gd name="connsiteX9-123" fmla="*/ 636251 w 2306019"/>
              <a:gd name="connsiteY9-124" fmla="*/ 2035410 h 2035410"/>
              <a:gd name="connsiteX10-125" fmla="*/ 537279 w 2306019"/>
              <a:gd name="connsiteY10-126" fmla="*/ 1978265 h 2035410"/>
              <a:gd name="connsiteX11-127" fmla="*/ 15693 w 2306019"/>
              <a:gd name="connsiteY11-128" fmla="*/ 1074866 h 2035410"/>
              <a:gd name="connsiteX12-129" fmla="*/ 15684 w 2306019"/>
              <a:gd name="connsiteY12-130" fmla="*/ 960560 h 2035410"/>
              <a:gd name="connsiteX0-131" fmla="*/ 15684 w 2306019"/>
              <a:gd name="connsiteY0-132" fmla="*/ 960560 h 2035410"/>
              <a:gd name="connsiteX1-133" fmla="*/ 537270 w 2306019"/>
              <a:gd name="connsiteY1-134" fmla="*/ 57161 h 2035410"/>
              <a:gd name="connsiteX2-135" fmla="*/ 636258 w 2306019"/>
              <a:gd name="connsiteY2-136" fmla="*/ 0 h 2035410"/>
              <a:gd name="connsiteX3-137" fmla="*/ 1679418 w 2306019"/>
              <a:gd name="connsiteY3-138" fmla="*/ 0 h 2035410"/>
              <a:gd name="connsiteX4-139" fmla="*/ 1778390 w 2306019"/>
              <a:gd name="connsiteY4-140" fmla="*/ 57145 h 2035410"/>
              <a:gd name="connsiteX5-141" fmla="*/ 2299977 w 2306019"/>
              <a:gd name="connsiteY5-142" fmla="*/ 960544 h 2035410"/>
              <a:gd name="connsiteX6-143" fmla="*/ 2299986 w 2306019"/>
              <a:gd name="connsiteY6-144" fmla="*/ 1074850 h 2035410"/>
              <a:gd name="connsiteX7-145" fmla="*/ 1778399 w 2306019"/>
              <a:gd name="connsiteY7-146" fmla="*/ 1978249 h 2035410"/>
              <a:gd name="connsiteX8-147" fmla="*/ 1679411 w 2306019"/>
              <a:gd name="connsiteY8-148" fmla="*/ 2035410 h 2035410"/>
              <a:gd name="connsiteX9-149" fmla="*/ 636251 w 2306019"/>
              <a:gd name="connsiteY9-150" fmla="*/ 2035410 h 2035410"/>
              <a:gd name="connsiteX10-151" fmla="*/ 537279 w 2306019"/>
              <a:gd name="connsiteY10-152" fmla="*/ 1978265 h 2035410"/>
              <a:gd name="connsiteX11-153" fmla="*/ 15693 w 2306019"/>
              <a:gd name="connsiteY11-154" fmla="*/ 1074866 h 2035410"/>
              <a:gd name="connsiteX12-155" fmla="*/ 15684 w 2306019"/>
              <a:gd name="connsiteY12-156" fmla="*/ 960560 h 2035410"/>
              <a:gd name="connsiteX0-157" fmla="*/ 15684 w 2306019"/>
              <a:gd name="connsiteY0-158" fmla="*/ 960560 h 2035410"/>
              <a:gd name="connsiteX1-159" fmla="*/ 537270 w 2306019"/>
              <a:gd name="connsiteY1-160" fmla="*/ 57161 h 2035410"/>
              <a:gd name="connsiteX2-161" fmla="*/ 636258 w 2306019"/>
              <a:gd name="connsiteY2-162" fmla="*/ 0 h 2035410"/>
              <a:gd name="connsiteX3-163" fmla="*/ 1679418 w 2306019"/>
              <a:gd name="connsiteY3-164" fmla="*/ 0 h 2035410"/>
              <a:gd name="connsiteX4-165" fmla="*/ 1778390 w 2306019"/>
              <a:gd name="connsiteY4-166" fmla="*/ 57145 h 2035410"/>
              <a:gd name="connsiteX5-167" fmla="*/ 2299977 w 2306019"/>
              <a:gd name="connsiteY5-168" fmla="*/ 960544 h 2035410"/>
              <a:gd name="connsiteX6-169" fmla="*/ 2299986 w 2306019"/>
              <a:gd name="connsiteY6-170" fmla="*/ 1074850 h 2035410"/>
              <a:gd name="connsiteX7-171" fmla="*/ 1778399 w 2306019"/>
              <a:gd name="connsiteY7-172" fmla="*/ 1978249 h 2035410"/>
              <a:gd name="connsiteX8-173" fmla="*/ 1679411 w 2306019"/>
              <a:gd name="connsiteY8-174" fmla="*/ 2035410 h 2035410"/>
              <a:gd name="connsiteX9-175" fmla="*/ 636251 w 2306019"/>
              <a:gd name="connsiteY9-176" fmla="*/ 2035410 h 2035410"/>
              <a:gd name="connsiteX10-177" fmla="*/ 537279 w 2306019"/>
              <a:gd name="connsiteY10-178" fmla="*/ 1978265 h 2035410"/>
              <a:gd name="connsiteX11-179" fmla="*/ 15693 w 2306019"/>
              <a:gd name="connsiteY11-180" fmla="*/ 1074866 h 2035410"/>
              <a:gd name="connsiteX12-181" fmla="*/ 15684 w 2306019"/>
              <a:gd name="connsiteY12-182" fmla="*/ 960560 h 2035410"/>
              <a:gd name="connsiteX0-183" fmla="*/ 15684 w 2306019"/>
              <a:gd name="connsiteY0-184" fmla="*/ 960560 h 2035410"/>
              <a:gd name="connsiteX1-185" fmla="*/ 537270 w 2306019"/>
              <a:gd name="connsiteY1-186" fmla="*/ 57161 h 2035410"/>
              <a:gd name="connsiteX2-187" fmla="*/ 636258 w 2306019"/>
              <a:gd name="connsiteY2-188" fmla="*/ 0 h 2035410"/>
              <a:gd name="connsiteX3-189" fmla="*/ 1679418 w 2306019"/>
              <a:gd name="connsiteY3-190" fmla="*/ 0 h 2035410"/>
              <a:gd name="connsiteX4-191" fmla="*/ 1778390 w 2306019"/>
              <a:gd name="connsiteY4-192" fmla="*/ 57145 h 2035410"/>
              <a:gd name="connsiteX5-193" fmla="*/ 2299977 w 2306019"/>
              <a:gd name="connsiteY5-194" fmla="*/ 960544 h 2035410"/>
              <a:gd name="connsiteX6-195" fmla="*/ 2299986 w 2306019"/>
              <a:gd name="connsiteY6-196" fmla="*/ 1074850 h 2035410"/>
              <a:gd name="connsiteX7-197" fmla="*/ 1778399 w 2306019"/>
              <a:gd name="connsiteY7-198" fmla="*/ 1978249 h 2035410"/>
              <a:gd name="connsiteX8-199" fmla="*/ 1679411 w 2306019"/>
              <a:gd name="connsiteY8-200" fmla="*/ 2035410 h 2035410"/>
              <a:gd name="connsiteX9-201" fmla="*/ 636251 w 2306019"/>
              <a:gd name="connsiteY9-202" fmla="*/ 2035410 h 2035410"/>
              <a:gd name="connsiteX10-203" fmla="*/ 537279 w 2306019"/>
              <a:gd name="connsiteY10-204" fmla="*/ 1978265 h 2035410"/>
              <a:gd name="connsiteX11-205" fmla="*/ 15693 w 2306019"/>
              <a:gd name="connsiteY11-206" fmla="*/ 1074866 h 2035410"/>
              <a:gd name="connsiteX12-207" fmla="*/ 15684 w 2306019"/>
              <a:gd name="connsiteY12-208" fmla="*/ 960560 h 2035410"/>
              <a:gd name="connsiteX0-209" fmla="*/ 15684 w 2306019"/>
              <a:gd name="connsiteY0-210" fmla="*/ 960560 h 2035410"/>
              <a:gd name="connsiteX1-211" fmla="*/ 537270 w 2306019"/>
              <a:gd name="connsiteY1-212" fmla="*/ 57161 h 2035410"/>
              <a:gd name="connsiteX2-213" fmla="*/ 636258 w 2306019"/>
              <a:gd name="connsiteY2-214" fmla="*/ 0 h 2035410"/>
              <a:gd name="connsiteX3-215" fmla="*/ 1679418 w 2306019"/>
              <a:gd name="connsiteY3-216" fmla="*/ 0 h 2035410"/>
              <a:gd name="connsiteX4-217" fmla="*/ 1778390 w 2306019"/>
              <a:gd name="connsiteY4-218" fmla="*/ 57145 h 2035410"/>
              <a:gd name="connsiteX5-219" fmla="*/ 2299977 w 2306019"/>
              <a:gd name="connsiteY5-220" fmla="*/ 960544 h 2035410"/>
              <a:gd name="connsiteX6-221" fmla="*/ 2299986 w 2306019"/>
              <a:gd name="connsiteY6-222" fmla="*/ 1074850 h 2035410"/>
              <a:gd name="connsiteX7-223" fmla="*/ 1778399 w 2306019"/>
              <a:gd name="connsiteY7-224" fmla="*/ 1978249 h 2035410"/>
              <a:gd name="connsiteX8-225" fmla="*/ 1679411 w 2306019"/>
              <a:gd name="connsiteY8-226" fmla="*/ 2035410 h 2035410"/>
              <a:gd name="connsiteX9-227" fmla="*/ 636251 w 2306019"/>
              <a:gd name="connsiteY9-228" fmla="*/ 2035410 h 2035410"/>
              <a:gd name="connsiteX10-229" fmla="*/ 537279 w 2306019"/>
              <a:gd name="connsiteY10-230" fmla="*/ 1978265 h 2035410"/>
              <a:gd name="connsiteX11-231" fmla="*/ 15693 w 2306019"/>
              <a:gd name="connsiteY11-232" fmla="*/ 1074866 h 2035410"/>
              <a:gd name="connsiteX12-233" fmla="*/ 15684 w 2306019"/>
              <a:gd name="connsiteY12-234" fmla="*/ 960560 h 2035410"/>
              <a:gd name="connsiteX0-235" fmla="*/ 15684 w 2306016"/>
              <a:gd name="connsiteY0-236" fmla="*/ 960560 h 2035410"/>
              <a:gd name="connsiteX1-237" fmla="*/ 537270 w 2306016"/>
              <a:gd name="connsiteY1-238" fmla="*/ 57161 h 2035410"/>
              <a:gd name="connsiteX2-239" fmla="*/ 636258 w 2306016"/>
              <a:gd name="connsiteY2-240" fmla="*/ 0 h 2035410"/>
              <a:gd name="connsiteX3-241" fmla="*/ 1679418 w 2306016"/>
              <a:gd name="connsiteY3-242" fmla="*/ 0 h 2035410"/>
              <a:gd name="connsiteX4-243" fmla="*/ 1778390 w 2306016"/>
              <a:gd name="connsiteY4-244" fmla="*/ 57145 h 2035410"/>
              <a:gd name="connsiteX5-245" fmla="*/ 2299977 w 2306016"/>
              <a:gd name="connsiteY5-246" fmla="*/ 960544 h 2035410"/>
              <a:gd name="connsiteX6-247" fmla="*/ 2299986 w 2306016"/>
              <a:gd name="connsiteY6-248" fmla="*/ 1074850 h 2035410"/>
              <a:gd name="connsiteX7-249" fmla="*/ 1778399 w 2306016"/>
              <a:gd name="connsiteY7-250" fmla="*/ 1978249 h 2035410"/>
              <a:gd name="connsiteX8-251" fmla="*/ 1679411 w 2306016"/>
              <a:gd name="connsiteY8-252" fmla="*/ 2035410 h 2035410"/>
              <a:gd name="connsiteX9-253" fmla="*/ 636251 w 2306016"/>
              <a:gd name="connsiteY9-254" fmla="*/ 2035410 h 2035410"/>
              <a:gd name="connsiteX10-255" fmla="*/ 537279 w 2306016"/>
              <a:gd name="connsiteY10-256" fmla="*/ 1978265 h 2035410"/>
              <a:gd name="connsiteX11-257" fmla="*/ 15693 w 2306016"/>
              <a:gd name="connsiteY11-258" fmla="*/ 1074866 h 2035410"/>
              <a:gd name="connsiteX12-259" fmla="*/ 15684 w 2306016"/>
              <a:gd name="connsiteY12-260" fmla="*/ 960560 h 2035410"/>
              <a:gd name="connsiteX0-261" fmla="*/ 15684 w 2315670"/>
              <a:gd name="connsiteY0-262" fmla="*/ 960560 h 2035410"/>
              <a:gd name="connsiteX1-263" fmla="*/ 537270 w 2315670"/>
              <a:gd name="connsiteY1-264" fmla="*/ 57161 h 2035410"/>
              <a:gd name="connsiteX2-265" fmla="*/ 636258 w 2315670"/>
              <a:gd name="connsiteY2-266" fmla="*/ 0 h 2035410"/>
              <a:gd name="connsiteX3-267" fmla="*/ 1679418 w 2315670"/>
              <a:gd name="connsiteY3-268" fmla="*/ 0 h 2035410"/>
              <a:gd name="connsiteX4-269" fmla="*/ 1778390 w 2315670"/>
              <a:gd name="connsiteY4-270" fmla="*/ 57145 h 2035410"/>
              <a:gd name="connsiteX5-271" fmla="*/ 2299977 w 2315670"/>
              <a:gd name="connsiteY5-272" fmla="*/ 960544 h 2035410"/>
              <a:gd name="connsiteX6-273" fmla="*/ 2299986 w 2315670"/>
              <a:gd name="connsiteY6-274" fmla="*/ 1074850 h 2035410"/>
              <a:gd name="connsiteX7-275" fmla="*/ 1778399 w 2315670"/>
              <a:gd name="connsiteY7-276" fmla="*/ 1978249 h 2035410"/>
              <a:gd name="connsiteX8-277" fmla="*/ 1679411 w 2315670"/>
              <a:gd name="connsiteY8-278" fmla="*/ 2035410 h 2035410"/>
              <a:gd name="connsiteX9-279" fmla="*/ 636251 w 2315670"/>
              <a:gd name="connsiteY9-280" fmla="*/ 2035410 h 2035410"/>
              <a:gd name="connsiteX10-281" fmla="*/ 537279 w 2315670"/>
              <a:gd name="connsiteY10-282" fmla="*/ 1978265 h 2035410"/>
              <a:gd name="connsiteX11-283" fmla="*/ 15693 w 2315670"/>
              <a:gd name="connsiteY11-284" fmla="*/ 1074866 h 2035410"/>
              <a:gd name="connsiteX12-285" fmla="*/ 15684 w 2315670"/>
              <a:gd name="connsiteY12-286" fmla="*/ 960560 h 2035410"/>
              <a:gd name="connsiteX0-287" fmla="*/ 15684 w 2315670"/>
              <a:gd name="connsiteY0-288" fmla="*/ 960560 h 2035410"/>
              <a:gd name="connsiteX1-289" fmla="*/ 537270 w 2315670"/>
              <a:gd name="connsiteY1-290" fmla="*/ 57161 h 2035410"/>
              <a:gd name="connsiteX2-291" fmla="*/ 636258 w 2315670"/>
              <a:gd name="connsiteY2-292" fmla="*/ 0 h 2035410"/>
              <a:gd name="connsiteX3-293" fmla="*/ 1679418 w 2315670"/>
              <a:gd name="connsiteY3-294" fmla="*/ 0 h 2035410"/>
              <a:gd name="connsiteX4-295" fmla="*/ 1778390 w 2315670"/>
              <a:gd name="connsiteY4-296" fmla="*/ 57145 h 2035410"/>
              <a:gd name="connsiteX5-297" fmla="*/ 2299977 w 2315670"/>
              <a:gd name="connsiteY5-298" fmla="*/ 960544 h 2035410"/>
              <a:gd name="connsiteX6-299" fmla="*/ 2299986 w 2315670"/>
              <a:gd name="connsiteY6-300" fmla="*/ 1074850 h 2035410"/>
              <a:gd name="connsiteX7-301" fmla="*/ 1778399 w 2315670"/>
              <a:gd name="connsiteY7-302" fmla="*/ 1978249 h 2035410"/>
              <a:gd name="connsiteX8-303" fmla="*/ 1679411 w 2315670"/>
              <a:gd name="connsiteY8-304" fmla="*/ 2035410 h 2035410"/>
              <a:gd name="connsiteX9-305" fmla="*/ 636251 w 2315670"/>
              <a:gd name="connsiteY9-306" fmla="*/ 2035410 h 2035410"/>
              <a:gd name="connsiteX10-307" fmla="*/ 537279 w 2315670"/>
              <a:gd name="connsiteY10-308" fmla="*/ 1978265 h 2035410"/>
              <a:gd name="connsiteX11-309" fmla="*/ 15693 w 2315670"/>
              <a:gd name="connsiteY11-310" fmla="*/ 1074866 h 2035410"/>
              <a:gd name="connsiteX12-311" fmla="*/ 15684 w 2315670"/>
              <a:gd name="connsiteY12-312" fmla="*/ 960560 h 2035410"/>
              <a:gd name="connsiteX0-313" fmla="*/ 15684 w 2315670"/>
              <a:gd name="connsiteY0-314" fmla="*/ 960560 h 2035410"/>
              <a:gd name="connsiteX1-315" fmla="*/ 537270 w 2315670"/>
              <a:gd name="connsiteY1-316" fmla="*/ 57161 h 2035410"/>
              <a:gd name="connsiteX2-317" fmla="*/ 636258 w 2315670"/>
              <a:gd name="connsiteY2-318" fmla="*/ 0 h 2035410"/>
              <a:gd name="connsiteX3-319" fmla="*/ 1679418 w 2315670"/>
              <a:gd name="connsiteY3-320" fmla="*/ 0 h 2035410"/>
              <a:gd name="connsiteX4-321" fmla="*/ 1778390 w 2315670"/>
              <a:gd name="connsiteY4-322" fmla="*/ 57145 h 2035410"/>
              <a:gd name="connsiteX5-323" fmla="*/ 2299977 w 2315670"/>
              <a:gd name="connsiteY5-324" fmla="*/ 960544 h 2035410"/>
              <a:gd name="connsiteX6-325" fmla="*/ 2299986 w 2315670"/>
              <a:gd name="connsiteY6-326" fmla="*/ 1074850 h 2035410"/>
              <a:gd name="connsiteX7-327" fmla="*/ 1778399 w 2315670"/>
              <a:gd name="connsiteY7-328" fmla="*/ 1978249 h 2035410"/>
              <a:gd name="connsiteX8-329" fmla="*/ 1679411 w 2315670"/>
              <a:gd name="connsiteY8-330" fmla="*/ 2035410 h 2035410"/>
              <a:gd name="connsiteX9-331" fmla="*/ 636251 w 2315670"/>
              <a:gd name="connsiteY9-332" fmla="*/ 2035410 h 2035410"/>
              <a:gd name="connsiteX10-333" fmla="*/ 537279 w 2315670"/>
              <a:gd name="connsiteY10-334" fmla="*/ 1978265 h 2035410"/>
              <a:gd name="connsiteX11-335" fmla="*/ 15693 w 2315670"/>
              <a:gd name="connsiteY11-336" fmla="*/ 1074866 h 2035410"/>
              <a:gd name="connsiteX12-337" fmla="*/ 15684 w 2315670"/>
              <a:gd name="connsiteY12-338" fmla="*/ 960560 h 2035410"/>
              <a:gd name="connsiteX0-339" fmla="*/ 15684 w 2315670"/>
              <a:gd name="connsiteY0-340" fmla="*/ 960560 h 2035410"/>
              <a:gd name="connsiteX1-341" fmla="*/ 537270 w 2315670"/>
              <a:gd name="connsiteY1-342" fmla="*/ 57161 h 2035410"/>
              <a:gd name="connsiteX2-343" fmla="*/ 636258 w 2315670"/>
              <a:gd name="connsiteY2-344" fmla="*/ 0 h 2035410"/>
              <a:gd name="connsiteX3-345" fmla="*/ 1679418 w 2315670"/>
              <a:gd name="connsiteY3-346" fmla="*/ 0 h 2035410"/>
              <a:gd name="connsiteX4-347" fmla="*/ 1778390 w 2315670"/>
              <a:gd name="connsiteY4-348" fmla="*/ 57145 h 2035410"/>
              <a:gd name="connsiteX5-349" fmla="*/ 2299977 w 2315670"/>
              <a:gd name="connsiteY5-350" fmla="*/ 960544 h 2035410"/>
              <a:gd name="connsiteX6-351" fmla="*/ 2299986 w 2315670"/>
              <a:gd name="connsiteY6-352" fmla="*/ 1074850 h 2035410"/>
              <a:gd name="connsiteX7-353" fmla="*/ 1778399 w 2315670"/>
              <a:gd name="connsiteY7-354" fmla="*/ 1978249 h 2035410"/>
              <a:gd name="connsiteX8-355" fmla="*/ 1679411 w 2315670"/>
              <a:gd name="connsiteY8-356" fmla="*/ 2035410 h 2035410"/>
              <a:gd name="connsiteX9-357" fmla="*/ 636251 w 2315670"/>
              <a:gd name="connsiteY9-358" fmla="*/ 2035410 h 2035410"/>
              <a:gd name="connsiteX10-359" fmla="*/ 537279 w 2315670"/>
              <a:gd name="connsiteY10-360" fmla="*/ 1978265 h 2035410"/>
              <a:gd name="connsiteX11-361" fmla="*/ 15693 w 2315670"/>
              <a:gd name="connsiteY11-362" fmla="*/ 1074866 h 2035410"/>
              <a:gd name="connsiteX12-363" fmla="*/ 15684 w 2315670"/>
              <a:gd name="connsiteY12-364" fmla="*/ 960560 h 2035410"/>
              <a:gd name="connsiteX0-365" fmla="*/ 15684 w 2315670"/>
              <a:gd name="connsiteY0-366" fmla="*/ 960560 h 2035410"/>
              <a:gd name="connsiteX1-367" fmla="*/ 537270 w 2315670"/>
              <a:gd name="connsiteY1-368" fmla="*/ 57161 h 2035410"/>
              <a:gd name="connsiteX2-369" fmla="*/ 636258 w 2315670"/>
              <a:gd name="connsiteY2-370" fmla="*/ 0 h 2035410"/>
              <a:gd name="connsiteX3-371" fmla="*/ 1679418 w 2315670"/>
              <a:gd name="connsiteY3-372" fmla="*/ 0 h 2035410"/>
              <a:gd name="connsiteX4-373" fmla="*/ 1778390 w 2315670"/>
              <a:gd name="connsiteY4-374" fmla="*/ 57145 h 2035410"/>
              <a:gd name="connsiteX5-375" fmla="*/ 2299977 w 2315670"/>
              <a:gd name="connsiteY5-376" fmla="*/ 960544 h 2035410"/>
              <a:gd name="connsiteX6-377" fmla="*/ 2299986 w 2315670"/>
              <a:gd name="connsiteY6-378" fmla="*/ 1074850 h 2035410"/>
              <a:gd name="connsiteX7-379" fmla="*/ 1778399 w 2315670"/>
              <a:gd name="connsiteY7-380" fmla="*/ 1978249 h 2035410"/>
              <a:gd name="connsiteX8-381" fmla="*/ 1679411 w 2315670"/>
              <a:gd name="connsiteY8-382" fmla="*/ 2035410 h 2035410"/>
              <a:gd name="connsiteX9-383" fmla="*/ 636251 w 2315670"/>
              <a:gd name="connsiteY9-384" fmla="*/ 2035410 h 2035410"/>
              <a:gd name="connsiteX10-385" fmla="*/ 537279 w 2315670"/>
              <a:gd name="connsiteY10-386" fmla="*/ 1978265 h 2035410"/>
              <a:gd name="connsiteX11-387" fmla="*/ 15693 w 2315670"/>
              <a:gd name="connsiteY11-388" fmla="*/ 1074866 h 2035410"/>
              <a:gd name="connsiteX12-389" fmla="*/ 15684 w 2315670"/>
              <a:gd name="connsiteY12-390" fmla="*/ 960560 h 2035410"/>
              <a:gd name="connsiteX0-391" fmla="*/ 15684 w 2315670"/>
              <a:gd name="connsiteY0-392" fmla="*/ 960560 h 2035410"/>
              <a:gd name="connsiteX1-393" fmla="*/ 537270 w 2315670"/>
              <a:gd name="connsiteY1-394" fmla="*/ 57161 h 2035410"/>
              <a:gd name="connsiteX2-395" fmla="*/ 636258 w 2315670"/>
              <a:gd name="connsiteY2-396" fmla="*/ 0 h 2035410"/>
              <a:gd name="connsiteX3-397" fmla="*/ 1679418 w 2315670"/>
              <a:gd name="connsiteY3-398" fmla="*/ 0 h 2035410"/>
              <a:gd name="connsiteX4-399" fmla="*/ 1778390 w 2315670"/>
              <a:gd name="connsiteY4-400" fmla="*/ 57145 h 2035410"/>
              <a:gd name="connsiteX5-401" fmla="*/ 2299977 w 2315670"/>
              <a:gd name="connsiteY5-402" fmla="*/ 960544 h 2035410"/>
              <a:gd name="connsiteX6-403" fmla="*/ 2299986 w 2315670"/>
              <a:gd name="connsiteY6-404" fmla="*/ 1074850 h 2035410"/>
              <a:gd name="connsiteX7-405" fmla="*/ 1778399 w 2315670"/>
              <a:gd name="connsiteY7-406" fmla="*/ 1978249 h 2035410"/>
              <a:gd name="connsiteX8-407" fmla="*/ 1679411 w 2315670"/>
              <a:gd name="connsiteY8-408" fmla="*/ 2035410 h 2035410"/>
              <a:gd name="connsiteX9-409" fmla="*/ 636251 w 2315670"/>
              <a:gd name="connsiteY9-410" fmla="*/ 2035410 h 2035410"/>
              <a:gd name="connsiteX10-411" fmla="*/ 537279 w 2315670"/>
              <a:gd name="connsiteY10-412" fmla="*/ 1978265 h 2035410"/>
              <a:gd name="connsiteX11-413" fmla="*/ 15693 w 2315670"/>
              <a:gd name="connsiteY11-414" fmla="*/ 1074866 h 2035410"/>
              <a:gd name="connsiteX12-415" fmla="*/ 15684 w 2315670"/>
              <a:gd name="connsiteY12-416" fmla="*/ 960560 h 2035410"/>
              <a:gd name="connsiteX0-417" fmla="*/ 15684 w 2315670"/>
              <a:gd name="connsiteY0-418" fmla="*/ 960560 h 2035410"/>
              <a:gd name="connsiteX1-419" fmla="*/ 537270 w 2315670"/>
              <a:gd name="connsiteY1-420" fmla="*/ 57161 h 2035410"/>
              <a:gd name="connsiteX2-421" fmla="*/ 636258 w 2315670"/>
              <a:gd name="connsiteY2-422" fmla="*/ 0 h 2035410"/>
              <a:gd name="connsiteX3-423" fmla="*/ 1679418 w 2315670"/>
              <a:gd name="connsiteY3-424" fmla="*/ 0 h 2035410"/>
              <a:gd name="connsiteX4-425" fmla="*/ 1778390 w 2315670"/>
              <a:gd name="connsiteY4-426" fmla="*/ 57145 h 2035410"/>
              <a:gd name="connsiteX5-427" fmla="*/ 2299977 w 2315670"/>
              <a:gd name="connsiteY5-428" fmla="*/ 960544 h 2035410"/>
              <a:gd name="connsiteX6-429" fmla="*/ 2299986 w 2315670"/>
              <a:gd name="connsiteY6-430" fmla="*/ 1074850 h 2035410"/>
              <a:gd name="connsiteX7-431" fmla="*/ 1778399 w 2315670"/>
              <a:gd name="connsiteY7-432" fmla="*/ 1978249 h 2035410"/>
              <a:gd name="connsiteX8-433" fmla="*/ 1679411 w 2315670"/>
              <a:gd name="connsiteY8-434" fmla="*/ 2035410 h 2035410"/>
              <a:gd name="connsiteX9-435" fmla="*/ 636251 w 2315670"/>
              <a:gd name="connsiteY9-436" fmla="*/ 2035410 h 2035410"/>
              <a:gd name="connsiteX10-437" fmla="*/ 537279 w 2315670"/>
              <a:gd name="connsiteY10-438" fmla="*/ 1978265 h 2035410"/>
              <a:gd name="connsiteX11-439" fmla="*/ 15693 w 2315670"/>
              <a:gd name="connsiteY11-440" fmla="*/ 1074866 h 2035410"/>
              <a:gd name="connsiteX12-441" fmla="*/ 15684 w 2315670"/>
              <a:gd name="connsiteY12-442" fmla="*/ 960560 h 2035410"/>
              <a:gd name="connsiteX0-443" fmla="*/ 15684 w 2315670"/>
              <a:gd name="connsiteY0-444" fmla="*/ 960560 h 2035410"/>
              <a:gd name="connsiteX1-445" fmla="*/ 537270 w 2315670"/>
              <a:gd name="connsiteY1-446" fmla="*/ 57161 h 2035410"/>
              <a:gd name="connsiteX2-447" fmla="*/ 636258 w 2315670"/>
              <a:gd name="connsiteY2-448" fmla="*/ 0 h 2035410"/>
              <a:gd name="connsiteX3-449" fmla="*/ 1679418 w 2315670"/>
              <a:gd name="connsiteY3-450" fmla="*/ 0 h 2035410"/>
              <a:gd name="connsiteX4-451" fmla="*/ 1778390 w 2315670"/>
              <a:gd name="connsiteY4-452" fmla="*/ 57145 h 2035410"/>
              <a:gd name="connsiteX5-453" fmla="*/ 2299977 w 2315670"/>
              <a:gd name="connsiteY5-454" fmla="*/ 960544 h 2035410"/>
              <a:gd name="connsiteX6-455" fmla="*/ 2299986 w 2315670"/>
              <a:gd name="connsiteY6-456" fmla="*/ 1074850 h 2035410"/>
              <a:gd name="connsiteX7-457" fmla="*/ 1778399 w 2315670"/>
              <a:gd name="connsiteY7-458" fmla="*/ 1978249 h 2035410"/>
              <a:gd name="connsiteX8-459" fmla="*/ 1679411 w 2315670"/>
              <a:gd name="connsiteY8-460" fmla="*/ 2035410 h 2035410"/>
              <a:gd name="connsiteX9-461" fmla="*/ 636251 w 2315670"/>
              <a:gd name="connsiteY9-462" fmla="*/ 2035410 h 2035410"/>
              <a:gd name="connsiteX10-463" fmla="*/ 537279 w 2315670"/>
              <a:gd name="connsiteY10-464" fmla="*/ 1978265 h 2035410"/>
              <a:gd name="connsiteX11-465" fmla="*/ 15693 w 2315670"/>
              <a:gd name="connsiteY11-466" fmla="*/ 1074866 h 2035410"/>
              <a:gd name="connsiteX12-467" fmla="*/ 15684 w 2315670"/>
              <a:gd name="connsiteY12-468" fmla="*/ 960560 h 2035410"/>
              <a:gd name="connsiteX0-469" fmla="*/ 15684 w 2315670"/>
              <a:gd name="connsiteY0-470" fmla="*/ 960560 h 2035410"/>
              <a:gd name="connsiteX1-471" fmla="*/ 537270 w 2315670"/>
              <a:gd name="connsiteY1-472" fmla="*/ 57161 h 2035410"/>
              <a:gd name="connsiteX2-473" fmla="*/ 636258 w 2315670"/>
              <a:gd name="connsiteY2-474" fmla="*/ 0 h 2035410"/>
              <a:gd name="connsiteX3-475" fmla="*/ 1679418 w 2315670"/>
              <a:gd name="connsiteY3-476" fmla="*/ 0 h 2035410"/>
              <a:gd name="connsiteX4-477" fmla="*/ 1778390 w 2315670"/>
              <a:gd name="connsiteY4-478" fmla="*/ 57145 h 2035410"/>
              <a:gd name="connsiteX5-479" fmla="*/ 2299977 w 2315670"/>
              <a:gd name="connsiteY5-480" fmla="*/ 960544 h 2035410"/>
              <a:gd name="connsiteX6-481" fmla="*/ 2299986 w 2315670"/>
              <a:gd name="connsiteY6-482" fmla="*/ 1074850 h 2035410"/>
              <a:gd name="connsiteX7-483" fmla="*/ 1778399 w 2315670"/>
              <a:gd name="connsiteY7-484" fmla="*/ 1978249 h 2035410"/>
              <a:gd name="connsiteX8-485" fmla="*/ 1679411 w 2315670"/>
              <a:gd name="connsiteY8-486" fmla="*/ 2035410 h 2035410"/>
              <a:gd name="connsiteX9-487" fmla="*/ 636251 w 2315670"/>
              <a:gd name="connsiteY9-488" fmla="*/ 2035410 h 2035410"/>
              <a:gd name="connsiteX10-489" fmla="*/ 537279 w 2315670"/>
              <a:gd name="connsiteY10-490" fmla="*/ 1978265 h 2035410"/>
              <a:gd name="connsiteX11-491" fmla="*/ 15693 w 2315670"/>
              <a:gd name="connsiteY11-492" fmla="*/ 1074866 h 2035410"/>
              <a:gd name="connsiteX12-493" fmla="*/ 15684 w 2315670"/>
              <a:gd name="connsiteY12-494" fmla="*/ 960560 h 2035410"/>
              <a:gd name="connsiteX0-495" fmla="*/ 15684 w 2315670"/>
              <a:gd name="connsiteY0-496" fmla="*/ 960560 h 2035410"/>
              <a:gd name="connsiteX1-497" fmla="*/ 537270 w 2315670"/>
              <a:gd name="connsiteY1-498" fmla="*/ 57161 h 2035410"/>
              <a:gd name="connsiteX2-499" fmla="*/ 636258 w 2315670"/>
              <a:gd name="connsiteY2-500" fmla="*/ 0 h 2035410"/>
              <a:gd name="connsiteX3-501" fmla="*/ 1679418 w 2315670"/>
              <a:gd name="connsiteY3-502" fmla="*/ 0 h 2035410"/>
              <a:gd name="connsiteX4-503" fmla="*/ 1778390 w 2315670"/>
              <a:gd name="connsiteY4-504" fmla="*/ 57145 h 2035410"/>
              <a:gd name="connsiteX5-505" fmla="*/ 2299977 w 2315670"/>
              <a:gd name="connsiteY5-506" fmla="*/ 960544 h 2035410"/>
              <a:gd name="connsiteX6-507" fmla="*/ 2299986 w 2315670"/>
              <a:gd name="connsiteY6-508" fmla="*/ 1074850 h 2035410"/>
              <a:gd name="connsiteX7-509" fmla="*/ 1778399 w 2315670"/>
              <a:gd name="connsiteY7-510" fmla="*/ 1978249 h 2035410"/>
              <a:gd name="connsiteX8-511" fmla="*/ 1679411 w 2315670"/>
              <a:gd name="connsiteY8-512" fmla="*/ 2035410 h 2035410"/>
              <a:gd name="connsiteX9-513" fmla="*/ 636251 w 2315670"/>
              <a:gd name="connsiteY9-514" fmla="*/ 2035410 h 2035410"/>
              <a:gd name="connsiteX10-515" fmla="*/ 537279 w 2315670"/>
              <a:gd name="connsiteY10-516" fmla="*/ 1978265 h 2035410"/>
              <a:gd name="connsiteX11-517" fmla="*/ 15693 w 2315670"/>
              <a:gd name="connsiteY11-518" fmla="*/ 1074866 h 2035410"/>
              <a:gd name="connsiteX12-519" fmla="*/ 15684 w 2315670"/>
              <a:gd name="connsiteY12-520" fmla="*/ 960560 h 2035410"/>
              <a:gd name="connsiteX0-521" fmla="*/ 15684 w 2315670"/>
              <a:gd name="connsiteY0-522" fmla="*/ 960560 h 2035410"/>
              <a:gd name="connsiteX1-523" fmla="*/ 537270 w 2315670"/>
              <a:gd name="connsiteY1-524" fmla="*/ 57161 h 2035410"/>
              <a:gd name="connsiteX2-525" fmla="*/ 636258 w 2315670"/>
              <a:gd name="connsiteY2-526" fmla="*/ 0 h 2035410"/>
              <a:gd name="connsiteX3-527" fmla="*/ 1679418 w 2315670"/>
              <a:gd name="connsiteY3-528" fmla="*/ 0 h 2035410"/>
              <a:gd name="connsiteX4-529" fmla="*/ 1778390 w 2315670"/>
              <a:gd name="connsiteY4-530" fmla="*/ 57145 h 2035410"/>
              <a:gd name="connsiteX5-531" fmla="*/ 2299977 w 2315670"/>
              <a:gd name="connsiteY5-532" fmla="*/ 960544 h 2035410"/>
              <a:gd name="connsiteX6-533" fmla="*/ 2299986 w 2315670"/>
              <a:gd name="connsiteY6-534" fmla="*/ 1074850 h 2035410"/>
              <a:gd name="connsiteX7-535" fmla="*/ 1778399 w 2315670"/>
              <a:gd name="connsiteY7-536" fmla="*/ 1978249 h 2035410"/>
              <a:gd name="connsiteX8-537" fmla="*/ 1679411 w 2315670"/>
              <a:gd name="connsiteY8-538" fmla="*/ 2035410 h 2035410"/>
              <a:gd name="connsiteX9-539" fmla="*/ 636251 w 2315670"/>
              <a:gd name="connsiteY9-540" fmla="*/ 2035410 h 2035410"/>
              <a:gd name="connsiteX10-541" fmla="*/ 537279 w 2315670"/>
              <a:gd name="connsiteY10-542" fmla="*/ 1978265 h 2035410"/>
              <a:gd name="connsiteX11-543" fmla="*/ 15693 w 2315670"/>
              <a:gd name="connsiteY11-544" fmla="*/ 1074866 h 2035410"/>
              <a:gd name="connsiteX12-545" fmla="*/ 15684 w 2315670"/>
              <a:gd name="connsiteY12-546" fmla="*/ 960560 h 2035410"/>
              <a:gd name="connsiteX0-547" fmla="*/ 15684 w 2315670"/>
              <a:gd name="connsiteY0-548" fmla="*/ 960560 h 2035410"/>
              <a:gd name="connsiteX1-549" fmla="*/ 537270 w 2315670"/>
              <a:gd name="connsiteY1-550" fmla="*/ 57161 h 2035410"/>
              <a:gd name="connsiteX2-551" fmla="*/ 636258 w 2315670"/>
              <a:gd name="connsiteY2-552" fmla="*/ 0 h 2035410"/>
              <a:gd name="connsiteX3-553" fmla="*/ 1679418 w 2315670"/>
              <a:gd name="connsiteY3-554" fmla="*/ 0 h 2035410"/>
              <a:gd name="connsiteX4-555" fmla="*/ 1778390 w 2315670"/>
              <a:gd name="connsiteY4-556" fmla="*/ 57145 h 2035410"/>
              <a:gd name="connsiteX5-557" fmla="*/ 2299977 w 2315670"/>
              <a:gd name="connsiteY5-558" fmla="*/ 960544 h 2035410"/>
              <a:gd name="connsiteX6-559" fmla="*/ 2299986 w 2315670"/>
              <a:gd name="connsiteY6-560" fmla="*/ 1074850 h 2035410"/>
              <a:gd name="connsiteX7-561" fmla="*/ 1778399 w 2315670"/>
              <a:gd name="connsiteY7-562" fmla="*/ 1978249 h 2035410"/>
              <a:gd name="connsiteX8-563" fmla="*/ 1679411 w 2315670"/>
              <a:gd name="connsiteY8-564" fmla="*/ 2035410 h 2035410"/>
              <a:gd name="connsiteX9-565" fmla="*/ 636251 w 2315670"/>
              <a:gd name="connsiteY9-566" fmla="*/ 2035410 h 2035410"/>
              <a:gd name="connsiteX10-567" fmla="*/ 537279 w 2315670"/>
              <a:gd name="connsiteY10-568" fmla="*/ 1978265 h 2035410"/>
              <a:gd name="connsiteX11-569" fmla="*/ 15693 w 2315670"/>
              <a:gd name="connsiteY11-570" fmla="*/ 1074866 h 2035410"/>
              <a:gd name="connsiteX12-571" fmla="*/ 15684 w 2315670"/>
              <a:gd name="connsiteY12-572" fmla="*/ 960560 h 20354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2315670" h="2035410">
                <a:moveTo>
                  <a:pt x="15684" y="960560"/>
                </a:moveTo>
                <a:cubicBezTo>
                  <a:pt x="36600" y="924331"/>
                  <a:pt x="516354" y="93390"/>
                  <a:pt x="537270" y="57161"/>
                </a:cubicBezTo>
                <a:cubicBezTo>
                  <a:pt x="558188" y="20932"/>
                  <a:pt x="594425" y="0"/>
                  <a:pt x="636258" y="0"/>
                </a:cubicBezTo>
                <a:cubicBezTo>
                  <a:pt x="678092" y="0"/>
                  <a:pt x="1637585" y="0"/>
                  <a:pt x="1679418" y="0"/>
                </a:cubicBezTo>
                <a:cubicBezTo>
                  <a:pt x="1721252" y="0"/>
                  <a:pt x="1757474" y="20916"/>
                  <a:pt x="1778390" y="57145"/>
                </a:cubicBezTo>
                <a:cubicBezTo>
                  <a:pt x="1799308" y="93374"/>
                  <a:pt x="2279060" y="924315"/>
                  <a:pt x="2299977" y="960544"/>
                </a:cubicBezTo>
                <a:cubicBezTo>
                  <a:pt x="2320895" y="996772"/>
                  <a:pt x="2320904" y="1038621"/>
                  <a:pt x="2299986" y="1074850"/>
                </a:cubicBezTo>
                <a:cubicBezTo>
                  <a:pt x="2279070" y="1111079"/>
                  <a:pt x="1799318" y="1942020"/>
                  <a:pt x="1778399" y="1978249"/>
                </a:cubicBezTo>
                <a:cubicBezTo>
                  <a:pt x="1757483" y="2014478"/>
                  <a:pt x="1721246" y="2035410"/>
                  <a:pt x="1679411" y="2035410"/>
                </a:cubicBezTo>
                <a:cubicBezTo>
                  <a:pt x="1637579" y="2035410"/>
                  <a:pt x="678086" y="2035410"/>
                  <a:pt x="636251" y="2035410"/>
                </a:cubicBezTo>
                <a:cubicBezTo>
                  <a:pt x="594419" y="2035410"/>
                  <a:pt x="558197" y="2014494"/>
                  <a:pt x="537279" y="1978265"/>
                </a:cubicBezTo>
                <a:cubicBezTo>
                  <a:pt x="516363" y="1942036"/>
                  <a:pt x="36610" y="1111095"/>
                  <a:pt x="15693" y="1074866"/>
                </a:cubicBezTo>
                <a:cubicBezTo>
                  <a:pt x="-5223" y="1038637"/>
                  <a:pt x="-5234" y="996789"/>
                  <a:pt x="15684" y="960560"/>
                </a:cubicBezTo>
                <a:close/>
              </a:path>
            </a:pathLst>
          </a:custGeom>
          <a:ln>
            <a:solidFill>
              <a:schemeClr val="accent1"/>
            </a:solidFill>
          </a:ln>
        </p:spPr>
        <p:style>
          <a:lnRef idx="2">
            <a:schemeClr val="accent1"/>
          </a:lnRef>
          <a:fillRef idx="0">
            <a:srgbClr val="FFFFFF"/>
          </a:fillRef>
          <a:effectRef idx="0">
            <a:srgbClr val="FFFFFF"/>
          </a:effectRef>
          <a:fontRef idx="minor">
            <a:schemeClr val="tx1"/>
          </a:fontRef>
        </p:style>
        <p:txBody>
          <a:bodyPr wrap="square" lIns="697184" tIns="695691" rIns="697184" bIns="695691" anchor="ctr" anchorCtr="1">
            <a:noAutofit/>
          </a:bodyPr>
          <a:p>
            <a:pPr marL="0" algn="ctr" rtl="0" eaLnBrk="1" hangingPunct="1">
              <a:lnSpc>
                <a:spcPct val="100000"/>
              </a:lnSpc>
              <a:spcBef>
                <a:spcPts val="0"/>
              </a:spcBef>
              <a:spcAft>
                <a:spcPts val="0"/>
              </a:spcAft>
            </a:pPr>
            <a:r>
              <a:rPr lang="en-US">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Business Questions</a:t>
            </a:r>
            <a:endParaRPr lang="en-US" b="1" kern="1200" dirty="0">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endParaRPr>
          </a:p>
        </p:txBody>
      </p:sp>
    </p:spTree>
    <p:custDataLst>
      <p:tags r:id="rId1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sz="half" idx="2"/>
            <p:custDataLst>
              <p:tags r:id="rId1"/>
            </p:custDataLst>
          </p:nvPr>
        </p:nvSpPr>
        <p:spPr>
          <a:xfrm>
            <a:off x="686435" y="1010920"/>
            <a:ext cx="6315075" cy="4951095"/>
          </a:xfrm>
        </p:spPr>
        <p:txBody>
          <a:bodyPr>
            <a:noAutofit/>
          </a:bodyPr>
          <a:p>
            <a:pPr marL="0" indent="0" algn="l"/>
            <a:r>
              <a:rPr lang="en-US" altLang="en-US" sz="1650">
                <a:solidFill>
                  <a:schemeClr val="tx1"/>
                </a:solidFill>
                <a:latin typeface="Times New Roman" panose="02020603050405020304" charset="0"/>
                <a:cs typeface="Times New Roman" panose="02020603050405020304" charset="0"/>
              </a:rPr>
              <a:t>Before beginning the analysis, the dataset was explored to understand its structure, data types, and overall quality.</a:t>
            </a:r>
            <a:endParaRPr lang="en-US" altLang="en-US" sz="1650">
              <a:solidFill>
                <a:schemeClr val="tx1"/>
              </a:solidFill>
              <a:latin typeface="Times New Roman" panose="02020603050405020304" charset="0"/>
              <a:cs typeface="Times New Roman" panose="02020603050405020304" charset="0"/>
            </a:endParaRPr>
          </a:p>
          <a:p>
            <a:pPr marL="0" indent="0" algn="l"/>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The preparation process included:</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1. Reviewing all variables and their business meaning</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2. Identifying missing values and inconsistencies</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3. Cleaning and standardizing the dataset</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4. Preparing the data for SQL analysis and Power BI visualization</a:t>
            </a:r>
            <a:endParaRPr lang="en-US" altLang="en-US" sz="1650">
              <a:solidFill>
                <a:schemeClr val="tx1"/>
              </a:solidFill>
              <a:latin typeface="Times New Roman" panose="02020603050405020304" charset="0"/>
              <a:cs typeface="Times New Roman" panose="02020603050405020304" charset="0"/>
            </a:endParaRPr>
          </a:p>
          <a:p>
            <a:pPr marL="0" indent="0" algn="l"/>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This ensured the analysis was based on reliable and consistent data.</a:t>
            </a:r>
            <a:endParaRPr lang="en-US" altLang="en-US" sz="1650">
              <a:solidFill>
                <a:schemeClr val="tx1"/>
              </a:solidFill>
              <a:latin typeface="Times New Roman" panose="02020603050405020304" charset="0"/>
              <a:cs typeface="Times New Roman" panose="02020603050405020304" charset="0"/>
            </a:endParaRPr>
          </a:p>
        </p:txBody>
      </p:sp>
      <p:cxnSp>
        <p:nvCxnSpPr>
          <p:cNvPr id="7" name="Straight Connector 6"/>
          <p:cNvCxnSpPr/>
          <p:nvPr/>
        </p:nvCxnSpPr>
        <p:spPr>
          <a:xfrm>
            <a:off x="7150100" y="0"/>
            <a:ext cx="0" cy="6972935"/>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Straight Connector 10"/>
          <p:cNvCxnSpPr/>
          <p:nvPr/>
        </p:nvCxnSpPr>
        <p:spPr>
          <a:xfrm>
            <a:off x="7158990" y="685800"/>
            <a:ext cx="4792345"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7158990" y="1952625"/>
            <a:ext cx="4806950"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Text Placeholder 4"/>
          <p:cNvSpPr>
            <a:spLocks noGrp="1"/>
          </p:cNvSpPr>
          <p:nvPr>
            <p:custDataLst>
              <p:tags r:id="rId2"/>
            </p:custDataLst>
          </p:nvPr>
        </p:nvSpPr>
        <p:spPr>
          <a:xfrm>
            <a:off x="7309485" y="728980"/>
            <a:ext cx="4501515" cy="117538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00000"/>
              </a:lnSpc>
              <a:spcAft>
                <a:spcPts val="0"/>
              </a:spcAft>
            </a:pPr>
            <a:r>
              <a:rPr lang="en-US" sz="3600" b="1">
                <a:solidFill>
                  <a:schemeClr val="accent1"/>
                </a:solidFill>
                <a:latin typeface="Times New Roman" panose="02020603050405020304" charset="0"/>
                <a:cs typeface="Times New Roman" panose="02020603050405020304" charset="0"/>
              </a:rPr>
              <a:t>Data Understanding and Preparation</a:t>
            </a:r>
            <a:endParaRPr lang="en-US" sz="3600" b="1">
              <a:solidFill>
                <a:schemeClr val="accent1"/>
              </a:solidFill>
              <a:latin typeface="Times New Roman" panose="02020603050405020304" charset="0"/>
              <a:cs typeface="Times New Roman" panose="02020603050405020304" charset="0"/>
            </a:endParaRPr>
          </a:p>
        </p:txBody>
      </p:sp>
      <p:sp>
        <p:nvSpPr>
          <p:cNvPr id="15" name="Text Box 14"/>
          <p:cNvSpPr txBox="1"/>
          <p:nvPr/>
        </p:nvSpPr>
        <p:spPr>
          <a:xfrm>
            <a:off x="8194040" y="2253615"/>
            <a:ext cx="2862580" cy="3708400"/>
          </a:xfrm>
          <a:prstGeom prst="rect">
            <a:avLst/>
          </a:prstGeom>
          <a:noFill/>
        </p:spPr>
        <p:txBody>
          <a:bodyPr wrap="square" rtlCol="0" anchor="t">
            <a:noAutofit/>
          </a:bodyPr>
          <a:p>
            <a:pPr indent="0" algn="ctr" fontAlgn="auto"/>
            <a:r>
              <a:rPr lang="en-US" altLang="en-US"/>
              <a:t>Raw Dataset</a:t>
            </a:r>
            <a:endParaRPr lang="en-US" altLang="en-US"/>
          </a:p>
          <a:p>
            <a:pPr indent="0" algn="ctr" fontAlgn="auto"/>
            <a:r>
              <a:rPr lang="en-US" altLang="en-US"/>
              <a:t>     ↓</a:t>
            </a:r>
            <a:endParaRPr lang="en-US" altLang="en-US"/>
          </a:p>
          <a:p>
            <a:pPr indent="0" algn="ctr" fontAlgn="auto"/>
            <a:r>
              <a:rPr lang="en-US" altLang="en-US"/>
              <a:t>Data Cleaning</a:t>
            </a:r>
            <a:endParaRPr lang="en-US" altLang="en-US"/>
          </a:p>
          <a:p>
            <a:pPr indent="0" algn="ctr" fontAlgn="auto"/>
            <a:r>
              <a:rPr lang="en-US" altLang="en-US"/>
              <a:t>     ↓</a:t>
            </a:r>
            <a:endParaRPr lang="en-US" altLang="en-US"/>
          </a:p>
          <a:p>
            <a:pPr indent="0" algn="ctr" fontAlgn="auto"/>
            <a:r>
              <a:rPr lang="en-US" altLang="en-US"/>
              <a:t>Exploratory Analysis</a:t>
            </a:r>
            <a:endParaRPr lang="en-US" altLang="en-US"/>
          </a:p>
          <a:p>
            <a:pPr indent="0" algn="ctr" fontAlgn="auto"/>
            <a:r>
              <a:rPr lang="en-US" altLang="en-US"/>
              <a:t>     ↓</a:t>
            </a:r>
            <a:endParaRPr lang="en-US" altLang="en-US"/>
          </a:p>
          <a:p>
            <a:pPr indent="0" algn="ctr" fontAlgn="auto"/>
            <a:r>
              <a:rPr lang="en-US" altLang="en-US"/>
              <a:t>SQL Analysis</a:t>
            </a:r>
            <a:endParaRPr lang="en-US" altLang="en-US"/>
          </a:p>
          <a:p>
            <a:pPr indent="0" algn="ctr" fontAlgn="auto"/>
            <a:r>
              <a:rPr lang="en-US" altLang="en-US"/>
              <a:t>     ↓</a:t>
            </a:r>
            <a:endParaRPr lang="en-US" altLang="en-US"/>
          </a:p>
          <a:p>
            <a:pPr indent="0" algn="ctr" fontAlgn="auto"/>
            <a:r>
              <a:rPr lang="en-US" altLang="en-US"/>
              <a:t>Power BI Dashboard</a:t>
            </a:r>
            <a:endParaRPr lang="en-US" altLang="en-US"/>
          </a:p>
          <a:p>
            <a:pPr indent="0" algn="ctr" fontAlgn="auto"/>
            <a:r>
              <a:rPr lang="en-US" altLang="en-US"/>
              <a:t>     ↓</a:t>
            </a:r>
            <a:endParaRPr lang="en-US" altLang="en-US"/>
          </a:p>
          <a:p>
            <a:pPr indent="0" algn="ctr" fontAlgn="auto"/>
            <a:r>
              <a:rPr lang="en-US" altLang="en-US"/>
              <a:t>Business Insights</a:t>
            </a:r>
            <a:endParaRPr lang="en-US" altLang="en-US"/>
          </a:p>
          <a:p>
            <a:pPr indent="0" algn="ctr" fontAlgn="auto"/>
            <a:r>
              <a:rPr lang="en-US" altLang="en-US"/>
              <a:t>     ↓</a:t>
            </a:r>
            <a:endParaRPr lang="en-US" altLang="en-US"/>
          </a:p>
          <a:p>
            <a:pPr indent="0" algn="ctr" fontAlgn="auto"/>
            <a:r>
              <a:rPr lang="en-US" altLang="en-US"/>
              <a:t>Recommendations</a:t>
            </a:r>
            <a:endParaRPr lang="en-US"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任意多边形: 形状 53"/>
          <p:cNvSpPr/>
          <p:nvPr>
            <p:custDataLst>
              <p:tags r:id="rId1"/>
            </p:custDataLst>
          </p:nvPr>
        </p:nvSpPr>
        <p:spPr>
          <a:xfrm>
            <a:off x="4819139" y="2784942"/>
            <a:ext cx="735640" cy="570710"/>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01</a:t>
            </a:r>
            <a:endParaRPr lang="en-US" b="1" dirty="0">
              <a:solidFill>
                <a:schemeClr val="bg1"/>
              </a:solidFill>
              <a:latin typeface="Times New Roman" panose="02020603050405020304" charset="0"/>
              <a:cs typeface="Times New Roman" panose="02020603050405020304" charset="0"/>
            </a:endParaRPr>
          </a:p>
        </p:txBody>
      </p:sp>
      <p:sp>
        <p:nvSpPr>
          <p:cNvPr id="57" name="任意多边形: 形状 56"/>
          <p:cNvSpPr/>
          <p:nvPr>
            <p:custDataLst>
              <p:tags r:id="rId2"/>
            </p:custDataLst>
          </p:nvPr>
        </p:nvSpPr>
        <p:spPr>
          <a:xfrm>
            <a:off x="1286510" y="2383997"/>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Sales performance</a:t>
            </a:r>
            <a:endParaRPr lang="en-US" altLang="en-US" sz="2445" dirty="0">
              <a:solidFill>
                <a:schemeClr val="tx1"/>
              </a:solidFill>
              <a:latin typeface="Times New Roman" panose="02020603050405020304" charset="0"/>
              <a:cs typeface="Times New Roman" panose="02020603050405020304" charset="0"/>
            </a:endParaRPr>
          </a:p>
        </p:txBody>
      </p:sp>
      <p:sp>
        <p:nvSpPr>
          <p:cNvPr id="5" name="Text Box 4"/>
          <p:cNvSpPr txBox="1"/>
          <p:nvPr/>
        </p:nvSpPr>
        <p:spPr>
          <a:xfrm>
            <a:off x="1017270" y="584200"/>
            <a:ext cx="6130925" cy="645160"/>
          </a:xfrm>
          <a:prstGeom prst="rect">
            <a:avLst/>
          </a:prstGeom>
          <a:noFill/>
        </p:spPr>
        <p:txBody>
          <a:bodyPr wrap="square" rtlCol="0">
            <a:spAutoFit/>
          </a:bodyPr>
          <a:p>
            <a:r>
              <a:rPr lang="en-US" sz="3600">
                <a:solidFill>
                  <a:schemeClr val="accent1"/>
                </a:solidFill>
                <a:latin typeface="Times New Roman" panose="02020603050405020304" charset="0"/>
                <a:cs typeface="Times New Roman" panose="02020603050405020304" charset="0"/>
              </a:rPr>
              <a:t>SQL Analysis</a:t>
            </a:r>
            <a:endParaRPr lang="en-US" sz="3600">
              <a:solidFill>
                <a:schemeClr val="accent1"/>
              </a:solidFill>
              <a:latin typeface="Times New Roman" panose="02020603050405020304" charset="0"/>
              <a:cs typeface="Times New Roman" panose="02020603050405020304" charset="0"/>
            </a:endParaRPr>
          </a:p>
        </p:txBody>
      </p:sp>
      <p:sp>
        <p:nvSpPr>
          <p:cNvPr id="6" name="Text Box 5"/>
          <p:cNvSpPr txBox="1"/>
          <p:nvPr/>
        </p:nvSpPr>
        <p:spPr>
          <a:xfrm>
            <a:off x="1017270" y="1297940"/>
            <a:ext cx="9948545" cy="922020"/>
          </a:xfrm>
          <a:prstGeom prst="rect">
            <a:avLst/>
          </a:prstGeom>
          <a:noFill/>
        </p:spPr>
        <p:txBody>
          <a:bodyPr wrap="square" rtlCol="0">
            <a:spAutoFit/>
          </a:bodyPr>
          <a:p>
            <a:r>
              <a:rPr lang="en-US" altLang="en-US">
                <a:solidFill>
                  <a:schemeClr val="tx1"/>
                </a:solidFill>
                <a:latin typeface="Times New Roman" panose="02020603050405020304" charset="0"/>
                <a:cs typeface="Times New Roman" panose="02020603050405020304" charset="0"/>
              </a:rPr>
              <a:t>SQL was used to explore the dataset, answer key business questions, and prepare insights for visualization.</a:t>
            </a:r>
            <a:endParaRPr lang="en-US" altLang="en-US">
              <a:solidFill>
                <a:schemeClr val="tx1"/>
              </a:solidFill>
              <a:latin typeface="Times New Roman" panose="02020603050405020304" charset="0"/>
              <a:cs typeface="Times New Roman" panose="02020603050405020304" charset="0"/>
            </a:endParaRPr>
          </a:p>
          <a:p>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The analysis focused on:</a:t>
            </a:r>
            <a:endParaRPr lang="en-US" altLang="en-US">
              <a:solidFill>
                <a:schemeClr val="tx1"/>
              </a:solidFill>
              <a:latin typeface="Times New Roman" panose="02020603050405020304" charset="0"/>
              <a:cs typeface="Times New Roman" panose="02020603050405020304" charset="0"/>
            </a:endParaRPr>
          </a:p>
        </p:txBody>
      </p:sp>
      <p:sp>
        <p:nvSpPr>
          <p:cNvPr id="7" name="任意多边形: 形状 56"/>
          <p:cNvSpPr/>
          <p:nvPr>
            <p:custDataLst>
              <p:tags r:id="rId3"/>
            </p:custDataLst>
          </p:nvPr>
        </p:nvSpPr>
        <p:spPr>
          <a:xfrm>
            <a:off x="1286510" y="352999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Profitability</a:t>
            </a:r>
            <a:endParaRPr lang="en-US" altLang="en-US" sz="2445" dirty="0">
              <a:solidFill>
                <a:schemeClr val="tx1"/>
              </a:solidFill>
              <a:latin typeface="Times New Roman" panose="02020603050405020304" charset="0"/>
              <a:cs typeface="Times New Roman" panose="02020603050405020304" charset="0"/>
            </a:endParaRPr>
          </a:p>
        </p:txBody>
      </p:sp>
      <p:sp>
        <p:nvSpPr>
          <p:cNvPr id="8" name="任意多边形: 形状 56"/>
          <p:cNvSpPr/>
          <p:nvPr>
            <p:custDataLst>
              <p:tags r:id="rId4"/>
            </p:custDataLst>
          </p:nvPr>
        </p:nvSpPr>
        <p:spPr>
          <a:xfrm>
            <a:off x="1286510" y="4676000"/>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sz="2200" dirty="0">
                <a:solidFill>
                  <a:schemeClr val="tx1"/>
                </a:solidFill>
                <a:latin typeface="Times New Roman" panose="02020603050405020304" charset="0"/>
                <a:cs typeface="Times New Roman" panose="02020603050405020304" charset="0"/>
              </a:rPr>
              <a:t>C</a:t>
            </a:r>
            <a:r>
              <a:rPr lang="en-US" altLang="en-US" sz="2200" dirty="0">
                <a:solidFill>
                  <a:schemeClr val="tx1"/>
                </a:solidFill>
                <a:latin typeface="Times New Roman" panose="02020603050405020304" charset="0"/>
                <a:cs typeface="Times New Roman" panose="02020603050405020304" charset="0"/>
              </a:rPr>
              <a:t>ustomer behavior</a:t>
            </a:r>
            <a:endParaRPr lang="en-US" altLang="en-US" sz="2200" dirty="0">
              <a:solidFill>
                <a:schemeClr val="tx1"/>
              </a:solidFill>
              <a:latin typeface="Times New Roman" panose="02020603050405020304" charset="0"/>
              <a:cs typeface="Times New Roman" panose="02020603050405020304" charset="0"/>
            </a:endParaRPr>
          </a:p>
        </p:txBody>
      </p:sp>
      <p:sp>
        <p:nvSpPr>
          <p:cNvPr id="9" name="任意多边形: 形状 56"/>
          <p:cNvSpPr/>
          <p:nvPr>
            <p:custDataLst>
              <p:tags r:id="rId5"/>
            </p:custDataLst>
          </p:nvPr>
        </p:nvSpPr>
        <p:spPr>
          <a:xfrm>
            <a:off x="6041337" y="237548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Product performance</a:t>
            </a:r>
            <a:endParaRPr lang="en-US" altLang="en-US" sz="2445" dirty="0">
              <a:solidFill>
                <a:schemeClr val="tx1"/>
              </a:solidFill>
              <a:latin typeface="Times New Roman" panose="02020603050405020304" charset="0"/>
              <a:cs typeface="Times New Roman" panose="02020603050405020304" charset="0"/>
            </a:endParaRPr>
          </a:p>
        </p:txBody>
      </p:sp>
      <p:sp>
        <p:nvSpPr>
          <p:cNvPr id="11" name="任意多边形: 形状 56"/>
          <p:cNvSpPr/>
          <p:nvPr>
            <p:custDataLst>
              <p:tags r:id="rId6"/>
            </p:custDataLst>
          </p:nvPr>
        </p:nvSpPr>
        <p:spPr>
          <a:xfrm>
            <a:off x="6041337" y="352999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200" dirty="0">
                <a:solidFill>
                  <a:schemeClr val="tx1"/>
                </a:solidFill>
                <a:latin typeface="Times New Roman" panose="02020603050405020304" charset="0"/>
                <a:cs typeface="Times New Roman" panose="02020603050405020304" charset="0"/>
              </a:rPr>
              <a:t>Discount impact</a:t>
            </a:r>
            <a:endParaRPr lang="en-US" altLang="en-US" sz="2200" dirty="0">
              <a:solidFill>
                <a:schemeClr val="tx1"/>
              </a:solidFill>
              <a:latin typeface="Times New Roman" panose="02020603050405020304" charset="0"/>
              <a:cs typeface="Times New Roman" panose="02020603050405020304" charset="0"/>
            </a:endParaRPr>
          </a:p>
        </p:txBody>
      </p:sp>
      <p:sp>
        <p:nvSpPr>
          <p:cNvPr id="12" name="任意多边形: 形状 56"/>
          <p:cNvSpPr/>
          <p:nvPr>
            <p:custDataLst>
              <p:tags r:id="rId7"/>
            </p:custDataLst>
          </p:nvPr>
        </p:nvSpPr>
        <p:spPr>
          <a:xfrm>
            <a:off x="6041337" y="468450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Time-based trends</a:t>
            </a:r>
            <a:endParaRPr lang="en-US" altLang="en-US" sz="2445" dirty="0">
              <a:solidFill>
                <a:schemeClr val="tx1"/>
              </a:solidFill>
              <a:latin typeface="Times New Roman" panose="02020603050405020304" charset="0"/>
              <a:cs typeface="Times New Roman" panose="02020603050405020304" charset="0"/>
            </a:endParaRPr>
          </a:p>
        </p:txBody>
      </p:sp>
      <p:sp>
        <p:nvSpPr>
          <p:cNvPr id="13" name="任意多边形: 形状 53"/>
          <p:cNvSpPr/>
          <p:nvPr>
            <p:custDataLst>
              <p:tags r:id="rId8"/>
            </p:custDataLst>
          </p:nvPr>
        </p:nvSpPr>
        <p:spPr>
          <a:xfrm>
            <a:off x="4852794" y="3940282"/>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02</a:t>
            </a:r>
            <a:endParaRPr lang="en-US" b="1" dirty="0">
              <a:solidFill>
                <a:schemeClr val="bg1"/>
              </a:solidFill>
              <a:latin typeface="Times New Roman" panose="02020603050405020304" charset="0"/>
              <a:cs typeface="Times New Roman" panose="02020603050405020304" charset="0"/>
            </a:endParaRPr>
          </a:p>
        </p:txBody>
      </p:sp>
      <p:sp>
        <p:nvSpPr>
          <p:cNvPr id="14" name="任意多边形: 形状 53"/>
          <p:cNvSpPr/>
          <p:nvPr>
            <p:custDataLst>
              <p:tags r:id="rId9"/>
            </p:custDataLst>
          </p:nvPr>
        </p:nvSpPr>
        <p:spPr>
          <a:xfrm>
            <a:off x="4852794" y="5088633"/>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03</a:t>
            </a:r>
            <a:endParaRPr lang="en-US" b="1" dirty="0">
              <a:solidFill>
                <a:schemeClr val="bg1"/>
              </a:solidFill>
              <a:latin typeface="Times New Roman" panose="02020603050405020304" charset="0"/>
              <a:cs typeface="Times New Roman" panose="02020603050405020304" charset="0"/>
            </a:endParaRPr>
          </a:p>
        </p:txBody>
      </p:sp>
      <p:sp>
        <p:nvSpPr>
          <p:cNvPr id="15" name="任意多边形: 形状 53"/>
          <p:cNvSpPr/>
          <p:nvPr>
            <p:custDataLst>
              <p:tags r:id="rId10"/>
            </p:custDataLst>
          </p:nvPr>
        </p:nvSpPr>
        <p:spPr>
          <a:xfrm>
            <a:off x="9608160" y="2786215"/>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04</a:t>
            </a:r>
            <a:endParaRPr lang="en-US" b="1" dirty="0">
              <a:solidFill>
                <a:schemeClr val="bg1"/>
              </a:solidFill>
              <a:latin typeface="Times New Roman" panose="02020603050405020304" charset="0"/>
              <a:cs typeface="Times New Roman" panose="02020603050405020304" charset="0"/>
            </a:endParaRPr>
          </a:p>
        </p:txBody>
      </p:sp>
      <p:sp>
        <p:nvSpPr>
          <p:cNvPr id="17" name="任意多边形: 形状 53"/>
          <p:cNvSpPr/>
          <p:nvPr>
            <p:custDataLst>
              <p:tags r:id="rId11"/>
            </p:custDataLst>
          </p:nvPr>
        </p:nvSpPr>
        <p:spPr>
          <a:xfrm>
            <a:off x="9608160" y="3939647"/>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05</a:t>
            </a:r>
            <a:endParaRPr lang="en-US" b="1" dirty="0">
              <a:solidFill>
                <a:schemeClr val="bg1"/>
              </a:solidFill>
              <a:latin typeface="Times New Roman" panose="02020603050405020304" charset="0"/>
              <a:cs typeface="Times New Roman" panose="02020603050405020304" charset="0"/>
            </a:endParaRPr>
          </a:p>
        </p:txBody>
      </p:sp>
      <p:sp>
        <p:nvSpPr>
          <p:cNvPr id="18" name="任意多边形: 形状 53"/>
          <p:cNvSpPr/>
          <p:nvPr>
            <p:custDataLst>
              <p:tags r:id="rId12"/>
            </p:custDataLst>
          </p:nvPr>
        </p:nvSpPr>
        <p:spPr>
          <a:xfrm>
            <a:off x="9608160" y="5093079"/>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06</a:t>
            </a:r>
            <a:endParaRPr lang="en-US" b="1" dirty="0">
              <a:solidFill>
                <a:schemeClr val="bg1"/>
              </a:solidFill>
              <a:latin typeface="Times New Roman" panose="02020603050405020304" charset="0"/>
              <a:cs typeface="Times New Roman" panose="02020603050405020304" charset="0"/>
            </a:endParaRPr>
          </a:p>
        </p:txBody>
      </p:sp>
      <p:sp>
        <p:nvSpPr>
          <p:cNvPr id="19" name="Text Box 18"/>
          <p:cNvSpPr txBox="1"/>
          <p:nvPr/>
        </p:nvSpPr>
        <p:spPr>
          <a:xfrm>
            <a:off x="1017270" y="6007735"/>
            <a:ext cx="9948545" cy="368300"/>
          </a:xfrm>
          <a:prstGeom prst="rect">
            <a:avLst/>
          </a:prstGeom>
          <a:noFill/>
        </p:spPr>
        <p:txBody>
          <a:bodyPr wrap="square" rtlCol="0">
            <a:spAutoFit/>
          </a:bodyPr>
          <a:p>
            <a:r>
              <a:rPr lang="en-US" altLang="en-US">
                <a:solidFill>
                  <a:schemeClr val="tx1"/>
                </a:solidFill>
                <a:latin typeface="Times New Roman" panose="02020603050405020304" charset="0"/>
                <a:cs typeface="Times New Roman" panose="02020603050405020304" charset="0"/>
              </a:rPr>
              <a:t>The resulting insights formed the foundation of the interactive Power BI dashboard.</a:t>
            </a:r>
            <a:endParaRPr lang="en-US" altLang="en-US">
              <a:solidFill>
                <a:schemeClr val="tx1"/>
              </a:solidFill>
              <a:latin typeface="Times New Roman" panose="02020603050405020304" charset="0"/>
              <a:cs typeface="Times New Roman" panose="02020603050405020304" charset="0"/>
            </a:endParaRPr>
          </a:p>
        </p:txBody>
      </p:sp>
    </p:spTree>
    <p:custDataLst>
      <p:tags r:id="rId1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40100" y="2555240"/>
            <a:ext cx="5320665" cy="1746885"/>
          </a:xfrm>
          <a:prstGeom prst="rect">
            <a:avLst/>
          </a:prstGeom>
          <a:noFill/>
        </p:spPr>
        <p:txBody>
          <a:bodyPr wrap="square" rtlCol="0">
            <a:noAutofit/>
          </a:bodyPr>
          <a:p>
            <a:pPr algn="ctr"/>
            <a:r>
              <a:rPr lang="en-US" sz="5400" b="1">
                <a:solidFill>
                  <a:schemeClr val="accent1"/>
                </a:solidFill>
                <a:latin typeface="Times New Roman" panose="02020603050405020304" charset="0"/>
                <a:cs typeface="Times New Roman" panose="02020603050405020304" charset="0"/>
              </a:rPr>
              <a:t>EXECUTIVE DASHBOARD</a:t>
            </a:r>
            <a:endParaRPr lang="en-US" sz="5400" b="1">
              <a:solidFill>
                <a:schemeClr val="accent1"/>
              </a:solidFill>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5" name="Picture 4" descr="Global Superstore Sales Performance Analysis_page-0002"/>
          <p:cNvPicPr>
            <a:picLocks noChangeAspect="1"/>
          </p:cNvPicPr>
          <p:nvPr/>
        </p:nvPicPr>
        <p:blipFill>
          <a:blip r:embed="rId1"/>
          <a:stretch>
            <a:fillRect/>
          </a:stretch>
        </p:blipFill>
        <p:spPr>
          <a:xfrm>
            <a:off x="0" y="0"/>
            <a:ext cx="12192000" cy="6851015"/>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p>
            <a:pPr marL="0" indent="0"/>
            <a:r>
              <a:rPr lang="en-US" altLang="en-US"/>
              <a:t>Business Question 1: How is the business performing overall?</a:t>
            </a:r>
            <a:endParaRPr lang="en-US" altLang="en-US"/>
          </a:p>
        </p:txBody>
      </p:sp>
      <p:sp>
        <p:nvSpPr>
          <p:cNvPr id="8" name="Text Box 7"/>
          <p:cNvSpPr txBox="1"/>
          <p:nvPr/>
        </p:nvSpPr>
        <p:spPr>
          <a:xfrm>
            <a:off x="3989705"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Executive </a:t>
            </a:r>
            <a:r>
              <a:rPr lang="en-US" sz="2800" b="1">
                <a:solidFill>
                  <a:schemeClr val="accent1"/>
                </a:solidFill>
                <a:latin typeface="Times New Roman" panose="02020603050405020304" charset="0"/>
                <a:cs typeface="Times New Roman" panose="02020603050405020304" charset="0"/>
                <a:sym typeface="+mn-ea"/>
              </a:rPr>
              <a:t>Insight</a:t>
            </a:r>
            <a:endParaRPr lang="en-US" sz="2800" b="1">
              <a:solidFill>
                <a:schemeClr val="accent1"/>
              </a:solidFill>
              <a:latin typeface="Times New Roman" panose="02020603050405020304" charset="0"/>
              <a:cs typeface="Times New Roman" panose="02020603050405020304" charset="0"/>
              <a:sym typeface="+mn-ea"/>
            </a:endParaRPr>
          </a:p>
        </p:txBody>
      </p:sp>
      <p:sp>
        <p:nvSpPr>
          <p:cNvPr id="6" name="Text Placeholder 2"/>
          <p:cNvSpPr>
            <a:spLocks noGrp="1"/>
          </p:cNvSpPr>
          <p:nvPr>
            <p:custDataLst>
              <p:tags r:id="rId2"/>
            </p:custDataLst>
          </p:nvPr>
        </p:nvSpPr>
        <p:spPr>
          <a:xfrm>
            <a:off x="1123315" y="1754505"/>
            <a:ext cx="9946005" cy="439102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a:solidFill>
                  <a:srgbClr val="F3990B"/>
                </a:solidFill>
                <a:latin typeface="Times New Roman" panose="02020603050405020304" charset="0"/>
                <a:cs typeface="Times New Roman" panose="02020603050405020304" charset="0"/>
              </a:rPr>
              <a:t>Finding</a:t>
            </a:r>
            <a:endParaRPr lang="en-US" altLang="en-US">
              <a:solidFill>
                <a:srgbClr val="F3990B"/>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Sales increased steadily between 2011 and 2014, with 2014 recording the strongest overall performance. The business also exhibits a clear seasonal trend, as Q4, particularly November and December, consistently generated the highest sales, with November 2014 reaching a peak of 555,312.</a:t>
            </a:r>
            <a:endParaRPr lang="en-US" altLang="en-US">
              <a:solidFill>
                <a:schemeClr val="tx1"/>
              </a:solidFill>
              <a:latin typeface="Times New Roman" panose="02020603050405020304" charset="0"/>
              <a:cs typeface="Times New Roman" panose="02020603050405020304" charset="0"/>
            </a:endParaRPr>
          </a:p>
          <a:p>
            <a:pPr marL="0" indent="0"/>
            <a:endParaRPr lang="en-US" altLang="en-US">
              <a:solidFill>
                <a:schemeClr val="tx1"/>
              </a:solidFill>
              <a:latin typeface="Times New Roman" panose="02020603050405020304" charset="0"/>
              <a:cs typeface="Times New Roman" panose="02020603050405020304" charset="0"/>
            </a:endParaRPr>
          </a:p>
          <a:p>
            <a:pPr marL="0" indent="0"/>
            <a:r>
              <a:rPr lang="en-US" altLang="en-US">
                <a:solidFill>
                  <a:srgbClr val="F3990B"/>
                </a:solidFill>
                <a:latin typeface="Times New Roman" panose="02020603050405020304" charset="0"/>
                <a:cs typeface="Times New Roman" panose="02020603050405020304" charset="0"/>
              </a:rPr>
              <a:t>Business Impact</a:t>
            </a:r>
            <a:endParaRPr lang="en-US" altLang="en-US">
              <a:solidFill>
                <a:srgbClr val="F3990B"/>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The recurring Q4 sales surge presents an opportunity to maximize revenue through proactive inventory planning, marketing campaigns, and staffing.</a:t>
            </a:r>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a:solidFill>
                  <a:schemeClr val="tx1"/>
                </a:solidFill>
                <a:latin typeface="Times New Roman" panose="02020603050405020304" charset="0"/>
                <a:cs typeface="Times New Roman" panose="02020603050405020304" charset="0"/>
              </a:rPr>
              <a:t>Business Question 2: Which regions, categories, and customer segments generate the highest revenue?</a:t>
            </a:r>
            <a:endParaRPr lang="en-US" altLang="en-US">
              <a:solidFill>
                <a:schemeClr val="tx1"/>
              </a:solidFill>
              <a:latin typeface="Times New Roman" panose="02020603050405020304" charset="0"/>
              <a:cs typeface="Times New Roman" panose="02020603050405020304" charset="0"/>
            </a:endParaRPr>
          </a:p>
        </p:txBody>
      </p:sp>
      <p:sp>
        <p:nvSpPr>
          <p:cNvPr id="6" name="Text Placeholder 2"/>
          <p:cNvSpPr>
            <a:spLocks noGrp="1"/>
          </p:cNvSpPr>
          <p:nvPr>
            <p:custDataLst>
              <p:tags r:id="rId2"/>
            </p:custDataLst>
          </p:nvPr>
        </p:nvSpPr>
        <p:spPr>
          <a:xfrm>
            <a:off x="1123315" y="1983105"/>
            <a:ext cx="9946005" cy="359156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a:solidFill>
                  <a:schemeClr val="accent2"/>
                </a:solidFill>
                <a:latin typeface="Times New Roman" panose="02020603050405020304" charset="0"/>
                <a:cs typeface="Times New Roman" panose="02020603050405020304" charset="0"/>
              </a:rPr>
              <a:t>Finding</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The Central region generated the highest revenue (2.82M), while the United States emerged as the company's strongest market (2.30M). Across customer segments, the Consumer segment contributed the largest share of revenue.</a:t>
            </a:r>
            <a:endParaRPr lang="en-US" altLang="en-US">
              <a:solidFill>
                <a:schemeClr val="tx1"/>
              </a:solidFill>
              <a:latin typeface="Times New Roman" panose="02020603050405020304" charset="0"/>
              <a:cs typeface="Times New Roman" panose="02020603050405020304" charset="0"/>
            </a:endParaRPr>
          </a:p>
          <a:p>
            <a:pPr marL="0" indent="0"/>
            <a:endParaRPr lang="en-US" altLang="en-US">
              <a:solidFill>
                <a:schemeClr val="tx1"/>
              </a:solidFill>
              <a:latin typeface="Times New Roman" panose="02020603050405020304" charset="0"/>
              <a:cs typeface="Times New Roman" panose="02020603050405020304" charset="0"/>
            </a:endParaRPr>
          </a:p>
          <a:p>
            <a:pPr marL="0" indent="0"/>
            <a:r>
              <a:rPr lang="en-US" altLang="en-US">
                <a:solidFill>
                  <a:schemeClr val="accent2"/>
                </a:solidFill>
                <a:latin typeface="Times New Roman" panose="02020603050405020304" charset="0"/>
                <a:cs typeface="Times New Roman" panose="02020603050405020304" charset="0"/>
              </a:rPr>
              <a:t>Business Impact</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The Central region, United States, and Consumer segment represent the company's primary revenue drivers and should remain strategic priorities for investment and customer retention.</a:t>
            </a:r>
            <a:endParaRPr lang="en-US" altLang="en-US">
              <a:solidFill>
                <a:schemeClr val="tx1"/>
              </a:solidFill>
              <a:latin typeface="Times New Roman" panose="02020603050405020304" charset="0"/>
              <a:cs typeface="Times New Roman" panose="02020603050405020304" charset="0"/>
            </a:endParaRPr>
          </a:p>
        </p:txBody>
      </p:sp>
      <p:sp>
        <p:nvSpPr>
          <p:cNvPr id="2" name="Text Box 1"/>
          <p:cNvSpPr txBox="1"/>
          <p:nvPr/>
        </p:nvSpPr>
        <p:spPr>
          <a:xfrm>
            <a:off x="329565" y="18415"/>
            <a:ext cx="1551940" cy="179070"/>
          </a:xfrm>
          <a:prstGeom prst="rect">
            <a:avLst/>
          </a:prstGeom>
          <a:noFill/>
        </p:spPr>
        <p:txBody>
          <a:bodyPr wrap="square" rtlCol="0">
            <a:noAutofit/>
          </a:bodyPr>
          <a:p>
            <a:pPr algn="ctr"/>
            <a:r>
              <a:rPr lang="en-US" sz="1000" b="1">
                <a:solidFill>
                  <a:schemeClr val="accent1"/>
                </a:solidFill>
                <a:latin typeface="Times New Roman" panose="02020603050405020304" charset="0"/>
                <a:cs typeface="Times New Roman" panose="02020603050405020304" charset="0"/>
              </a:rPr>
              <a:t>EXECUTIVE INSIGHT</a:t>
            </a:r>
            <a:endParaRPr lang="en-US" sz="1000" b="1">
              <a:solidFill>
                <a:schemeClr val="accent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110865" y="2555240"/>
            <a:ext cx="5970905" cy="1746885"/>
          </a:xfrm>
          <a:prstGeom prst="rect">
            <a:avLst/>
          </a:prstGeom>
          <a:noFill/>
        </p:spPr>
        <p:txBody>
          <a:bodyPr wrap="square" rtlCol="0">
            <a:noAutofit/>
          </a:bodyPr>
          <a:p>
            <a:pPr algn="ctr"/>
            <a:r>
              <a:rPr lang="en-US" sz="5400" b="1">
                <a:solidFill>
                  <a:schemeClr val="accent1"/>
                </a:solidFill>
                <a:latin typeface="Times New Roman" panose="02020603050405020304" charset="0"/>
                <a:cs typeface="Times New Roman" panose="02020603050405020304" charset="0"/>
              </a:rPr>
              <a:t>PROFITABILITY</a:t>
            </a:r>
            <a:endParaRPr lang="en-US" sz="5400" b="1">
              <a:solidFill>
                <a:schemeClr val="accent1"/>
              </a:solidFill>
              <a:latin typeface="Times New Roman" panose="02020603050405020304" charset="0"/>
              <a:cs typeface="Times New Roman" panose="02020603050405020304" charset="0"/>
            </a:endParaRPr>
          </a:p>
          <a:p>
            <a:pPr algn="ctr"/>
            <a:r>
              <a:rPr lang="en-US" sz="5400" b="1">
                <a:solidFill>
                  <a:schemeClr val="accent1"/>
                </a:solidFill>
                <a:latin typeface="Times New Roman" panose="02020603050405020304" charset="0"/>
                <a:cs typeface="Times New Roman" panose="02020603050405020304" charset="0"/>
              </a:rPr>
              <a:t>DASHBOARD</a:t>
            </a:r>
            <a:endParaRPr lang="en-US" sz="5400" b="1">
              <a:solidFill>
                <a:schemeClr val="accent1"/>
              </a:solidFill>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3" name="Picture 2" descr="Profitability insight"/>
          <p:cNvPicPr>
            <a:picLocks noChangeAspect="1"/>
          </p:cNvPicPr>
          <p:nvPr/>
        </p:nvPicPr>
        <p:blipFill>
          <a:blip r:embed="rId1"/>
          <a:stretch>
            <a:fillRect/>
          </a:stretch>
        </p:blipFill>
        <p:spPr>
          <a:xfrm>
            <a:off x="0" y="45085"/>
            <a:ext cx="12192000" cy="6812915"/>
          </a:xfrm>
          <a:prstGeom prst="rect">
            <a:avLst/>
          </a:prstGeom>
        </p:spPr>
      </p:pic>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a:solidFill>
                  <a:schemeClr val="tx1"/>
                </a:solidFill>
                <a:latin typeface="Times New Roman" panose="02020603050405020304" charset="0"/>
                <a:cs typeface="Times New Roman" panose="02020603050405020304" charset="0"/>
              </a:rPr>
              <a:t>Business Question 3: Which product categories contribute the most to profit?</a:t>
            </a:r>
            <a:endParaRPr lang="en-US" altLang="en-US">
              <a:solidFill>
                <a:schemeClr val="tx1"/>
              </a:solidFill>
              <a:latin typeface="Times New Roman" panose="02020603050405020304" charset="0"/>
              <a:cs typeface="Times New Roman" panose="02020603050405020304" charset="0"/>
            </a:endParaRPr>
          </a:p>
        </p:txBody>
      </p:sp>
      <p:sp>
        <p:nvSpPr>
          <p:cNvPr id="6" name="Text Placeholder 2"/>
          <p:cNvSpPr>
            <a:spLocks noGrp="1"/>
          </p:cNvSpPr>
          <p:nvPr>
            <p:custDataLst>
              <p:tags r:id="rId2"/>
            </p:custDataLst>
          </p:nvPr>
        </p:nvSpPr>
        <p:spPr>
          <a:xfrm>
            <a:off x="1123315" y="1983105"/>
            <a:ext cx="9946005" cy="298450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a:solidFill>
                  <a:schemeClr val="accent2"/>
                </a:solidFill>
                <a:latin typeface="Times New Roman" panose="02020603050405020304" charset="0"/>
                <a:cs typeface="Times New Roman" panose="02020603050405020304" charset="0"/>
              </a:rPr>
              <a:t>Finding</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The Technology category generated the highest profit, making it the company's strongest contributor to overall profitability.</a:t>
            </a:r>
            <a:endParaRPr lang="en-US" altLang="en-US">
              <a:solidFill>
                <a:schemeClr val="tx1"/>
              </a:solidFill>
              <a:latin typeface="Times New Roman" panose="02020603050405020304" charset="0"/>
              <a:cs typeface="Times New Roman" panose="02020603050405020304" charset="0"/>
            </a:endParaRPr>
          </a:p>
          <a:p>
            <a:pPr marL="0" indent="0"/>
            <a:endParaRPr lang="en-US" altLang="en-US">
              <a:solidFill>
                <a:schemeClr val="tx1"/>
              </a:solidFill>
              <a:latin typeface="Times New Roman" panose="02020603050405020304" charset="0"/>
              <a:cs typeface="Times New Roman" panose="02020603050405020304" charset="0"/>
            </a:endParaRPr>
          </a:p>
          <a:p>
            <a:pPr marL="0" indent="0"/>
            <a:r>
              <a:rPr lang="en-US" altLang="en-US">
                <a:solidFill>
                  <a:schemeClr val="accent2"/>
                </a:solidFill>
                <a:latin typeface="Times New Roman" panose="02020603050405020304" charset="0"/>
                <a:cs typeface="Times New Roman" panose="02020603050405020304" charset="0"/>
              </a:rPr>
              <a:t>Business Impact</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Technology products should remain a strategic focus while management reviews lower-performing categories to identify opportunities for margin improvement.</a:t>
            </a:r>
            <a:endParaRPr lang="en-US" altLang="en-US">
              <a:solidFill>
                <a:schemeClr val="tx1"/>
              </a:solidFill>
              <a:latin typeface="Times New Roman" panose="02020603050405020304" charset="0"/>
              <a:cs typeface="Times New Roman" panose="02020603050405020304" charset="0"/>
            </a:endParaRPr>
          </a:p>
        </p:txBody>
      </p:sp>
      <p:sp>
        <p:nvSpPr>
          <p:cNvPr id="8" name="Text Box 7"/>
          <p:cNvSpPr txBox="1"/>
          <p:nvPr/>
        </p:nvSpPr>
        <p:spPr>
          <a:xfrm>
            <a:off x="3989705"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Profitability Insight</a:t>
            </a:r>
            <a:endParaRPr lang="en-US" sz="2800" b="1">
              <a:solidFill>
                <a:schemeClr val="accent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a:solidFill>
                  <a:schemeClr val="tx1"/>
                </a:solidFill>
                <a:latin typeface="Times New Roman" panose="02020603050405020304" charset="0"/>
                <a:cs typeface="Times New Roman" panose="02020603050405020304" charset="0"/>
              </a:rPr>
              <a:t>Business Question 4: How do discounts affect profitability?</a:t>
            </a:r>
            <a:endParaRPr lang="en-US" altLang="en-US">
              <a:solidFill>
                <a:schemeClr val="tx1"/>
              </a:solidFill>
              <a:latin typeface="Times New Roman" panose="02020603050405020304" charset="0"/>
              <a:cs typeface="Times New Roman" panose="02020603050405020304" charset="0"/>
            </a:endParaRPr>
          </a:p>
        </p:txBody>
      </p:sp>
      <p:sp>
        <p:nvSpPr>
          <p:cNvPr id="6" name="Text Placeholder 2"/>
          <p:cNvSpPr>
            <a:spLocks noGrp="1"/>
          </p:cNvSpPr>
          <p:nvPr>
            <p:custDataLst>
              <p:tags r:id="rId2"/>
            </p:custDataLst>
          </p:nvPr>
        </p:nvSpPr>
        <p:spPr>
          <a:xfrm>
            <a:off x="1123315" y="1983105"/>
            <a:ext cx="9946005" cy="360362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a:solidFill>
                  <a:schemeClr val="accent2"/>
                </a:solidFill>
                <a:latin typeface="Times New Roman" panose="02020603050405020304" charset="0"/>
                <a:cs typeface="Times New Roman" panose="02020603050405020304" charset="0"/>
              </a:rPr>
              <a:t>Finding</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The analysis shows a negative relationship between discounts and profit. As discount levels increase, profitability generally declines, with heavily discounted transactions more likely to generate low or negative profits.</a:t>
            </a:r>
            <a:endParaRPr lang="en-US" altLang="en-US">
              <a:solidFill>
                <a:schemeClr val="tx1"/>
              </a:solidFill>
              <a:latin typeface="Times New Roman" panose="02020603050405020304" charset="0"/>
              <a:cs typeface="Times New Roman" panose="02020603050405020304" charset="0"/>
            </a:endParaRPr>
          </a:p>
          <a:p>
            <a:pPr marL="0" indent="0"/>
            <a:endParaRPr lang="en-US" altLang="en-US">
              <a:solidFill>
                <a:schemeClr val="tx1"/>
              </a:solidFill>
              <a:latin typeface="Times New Roman" panose="02020603050405020304" charset="0"/>
              <a:cs typeface="Times New Roman" panose="02020603050405020304" charset="0"/>
            </a:endParaRPr>
          </a:p>
          <a:p>
            <a:pPr marL="0" indent="0"/>
            <a:r>
              <a:rPr lang="en-US" altLang="en-US">
                <a:solidFill>
                  <a:schemeClr val="accent2"/>
                </a:solidFill>
                <a:latin typeface="Times New Roman" panose="02020603050405020304" charset="0"/>
                <a:cs typeface="Times New Roman" panose="02020603050405020304" charset="0"/>
              </a:rPr>
              <a:t>Business Impact</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Discounting should be carefully controlled. Establishing discount thresholds and regularly monitoring their impact can help improve overall profit margins.</a:t>
            </a:r>
            <a:endParaRPr lang="en-US" altLang="en-US">
              <a:solidFill>
                <a:schemeClr val="tx1"/>
              </a:solidFill>
              <a:latin typeface="Times New Roman" panose="02020603050405020304" charset="0"/>
              <a:cs typeface="Times New Roman" panose="02020603050405020304" charset="0"/>
            </a:endParaRPr>
          </a:p>
        </p:txBody>
      </p:sp>
      <p:sp>
        <p:nvSpPr>
          <p:cNvPr id="8" name="Text Box 7"/>
          <p:cNvSpPr txBox="1"/>
          <p:nvPr/>
        </p:nvSpPr>
        <p:spPr>
          <a:xfrm>
            <a:off x="3989705"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Discount </a:t>
            </a:r>
            <a:r>
              <a:rPr lang="en-US" sz="2800" b="1">
                <a:solidFill>
                  <a:schemeClr val="accent1"/>
                </a:solidFill>
                <a:latin typeface="Times New Roman" panose="02020603050405020304" charset="0"/>
                <a:cs typeface="Times New Roman" panose="02020603050405020304" charset="0"/>
                <a:sym typeface="+mn-ea"/>
              </a:rPr>
              <a:t>Insight</a:t>
            </a:r>
            <a:endParaRPr lang="en-US" sz="2800" b="1">
              <a:solidFill>
                <a:schemeClr val="accent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35985" y="2555240"/>
            <a:ext cx="5320665" cy="1746885"/>
          </a:xfrm>
          <a:prstGeom prst="rect">
            <a:avLst/>
          </a:prstGeom>
          <a:noFill/>
        </p:spPr>
        <p:txBody>
          <a:bodyPr wrap="square" rtlCol="0">
            <a:noAutofit/>
          </a:bodyPr>
          <a:p>
            <a:pPr algn="ctr"/>
            <a:r>
              <a:rPr lang="en-US" sz="5400" b="1">
                <a:solidFill>
                  <a:schemeClr val="accent1"/>
                </a:solidFill>
                <a:latin typeface="Times New Roman" panose="02020603050405020304" charset="0"/>
                <a:cs typeface="Times New Roman" panose="02020603050405020304" charset="0"/>
              </a:rPr>
              <a:t>CUSTOMER</a:t>
            </a:r>
            <a:endParaRPr lang="en-US" sz="5400" b="1">
              <a:solidFill>
                <a:schemeClr val="accent1"/>
              </a:solidFill>
              <a:latin typeface="Times New Roman" panose="02020603050405020304" charset="0"/>
              <a:cs typeface="Times New Roman" panose="02020603050405020304" charset="0"/>
            </a:endParaRPr>
          </a:p>
          <a:p>
            <a:pPr algn="ctr"/>
            <a:r>
              <a:rPr lang="en-US" sz="5400" b="1">
                <a:solidFill>
                  <a:schemeClr val="accent1"/>
                </a:solidFill>
                <a:latin typeface="Times New Roman" panose="02020603050405020304" charset="0"/>
                <a:cs typeface="Times New Roman" panose="02020603050405020304" charset="0"/>
              </a:rPr>
              <a:t>DASHBOARD</a:t>
            </a:r>
            <a:endParaRPr lang="en-US" sz="5400" b="1">
              <a:solidFill>
                <a:schemeClr val="accent1"/>
              </a:solidFill>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3" name="Picture 2" descr="Customer Insight"/>
          <p:cNvPicPr>
            <a:picLocks noChangeAspect="1"/>
          </p:cNvPicPr>
          <p:nvPr/>
        </p:nvPicPr>
        <p:blipFill>
          <a:blip r:embed="rId1"/>
          <a:stretch>
            <a:fillRect/>
          </a:stretch>
        </p:blipFill>
        <p:spPr>
          <a:xfrm>
            <a:off x="55245" y="0"/>
            <a:ext cx="12136755" cy="6858000"/>
          </a:xfrm>
          <a:prstGeom prst="rect">
            <a:avLst/>
          </a:prstGeom>
        </p:spPr>
      </p:pic>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a:solidFill>
                  <a:schemeClr val="tx1"/>
                </a:solidFill>
                <a:latin typeface="Times New Roman" panose="02020603050405020304" charset="0"/>
                <a:cs typeface="Times New Roman" panose="02020603050405020304" charset="0"/>
              </a:rPr>
              <a:t>Business Question 5: Who are the Company’s most valuable custumers</a:t>
            </a:r>
            <a:endParaRPr lang="en-US" altLang="en-US">
              <a:solidFill>
                <a:schemeClr val="tx1"/>
              </a:solidFill>
              <a:latin typeface="Times New Roman" panose="02020603050405020304" charset="0"/>
              <a:cs typeface="Times New Roman" panose="02020603050405020304" charset="0"/>
            </a:endParaRPr>
          </a:p>
        </p:txBody>
      </p:sp>
      <p:sp>
        <p:nvSpPr>
          <p:cNvPr id="6" name="Text Placeholder 2"/>
          <p:cNvSpPr>
            <a:spLocks noGrp="1"/>
          </p:cNvSpPr>
          <p:nvPr>
            <p:custDataLst>
              <p:tags r:id="rId2"/>
            </p:custDataLst>
          </p:nvPr>
        </p:nvSpPr>
        <p:spPr>
          <a:xfrm>
            <a:off x="1123315" y="1983105"/>
            <a:ext cx="9946005" cy="339725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a:solidFill>
                  <a:schemeClr val="tx1"/>
                </a:solidFill>
                <a:latin typeface="Times New Roman" panose="02020603050405020304" charset="0"/>
                <a:cs typeface="Times New Roman" panose="02020603050405020304" charset="0"/>
              </a:rPr>
              <a:t>The company serves 795 customers, with revenue concentrated among a relatively small group of high-value accounts. Tom Ashbrook generated the highest sales (40.5K), followed by Tamara Chand, Greg Tran, Christopher Conant, and Sean Miller. While these customers represent only a small fraction of the customer base, they contribute significantly to overall revenue.</a:t>
            </a:r>
            <a:endParaRPr lang="en-US" altLang="en-US">
              <a:solidFill>
                <a:schemeClr val="tx1"/>
              </a:solidFill>
              <a:latin typeface="Times New Roman" panose="02020603050405020304" charset="0"/>
              <a:cs typeface="Times New Roman" panose="02020603050405020304" charset="0"/>
            </a:endParaRPr>
          </a:p>
          <a:p>
            <a:pPr marL="0" indent="0"/>
            <a:endParaRPr lang="en-US" altLang="en-US">
              <a:solidFill>
                <a:schemeClr val="tx1"/>
              </a:solidFill>
              <a:latin typeface="Times New Roman" panose="02020603050405020304" charset="0"/>
              <a:cs typeface="Times New Roman" panose="02020603050405020304" charset="0"/>
            </a:endParaRPr>
          </a:p>
          <a:p>
            <a:pPr marL="0" indent="0"/>
            <a:r>
              <a:rPr lang="en-US" altLang="en-US">
                <a:solidFill>
                  <a:schemeClr val="accent2"/>
                </a:solidFill>
                <a:latin typeface="Times New Roman" panose="02020603050405020304" charset="0"/>
                <a:cs typeface="Times New Roman" panose="02020603050405020304" charset="0"/>
              </a:rPr>
              <a:t>Business Impact</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Retaining high-value customers should be a strategic priority. Strengthening relationships through loyalty programs, personalized engagement, and dedicated account management can help protect revenue while reducing customer churn.</a:t>
            </a:r>
            <a:endParaRPr lang="en-US" altLang="en-US">
              <a:solidFill>
                <a:schemeClr val="tx1"/>
              </a:solidFill>
              <a:latin typeface="Times New Roman" panose="02020603050405020304" charset="0"/>
              <a:cs typeface="Times New Roman" panose="02020603050405020304" charset="0"/>
            </a:endParaRPr>
          </a:p>
        </p:txBody>
      </p:sp>
      <p:sp>
        <p:nvSpPr>
          <p:cNvPr id="8" name="Text Box 7"/>
          <p:cNvSpPr txBox="1"/>
          <p:nvPr/>
        </p:nvSpPr>
        <p:spPr>
          <a:xfrm>
            <a:off x="3709670"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Customer </a:t>
            </a:r>
            <a:r>
              <a:rPr lang="en-US" sz="2800" b="1">
                <a:solidFill>
                  <a:schemeClr val="accent1"/>
                </a:solidFill>
                <a:latin typeface="Times New Roman" panose="02020603050405020304" charset="0"/>
                <a:cs typeface="Times New Roman" panose="02020603050405020304" charset="0"/>
                <a:sym typeface="+mn-ea"/>
              </a:rPr>
              <a:t>Insight</a:t>
            </a:r>
            <a:endParaRPr lang="en-US" sz="2800" b="1">
              <a:solidFill>
                <a:schemeClr val="accent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1123315" y="1174750"/>
            <a:ext cx="9946005" cy="438150"/>
          </a:xfrm>
        </p:spPr>
        <p:txBody>
          <a:bodyPr>
            <a:noAutofit/>
          </a:bodyPr>
          <a:p>
            <a:pPr marL="0" indent="0"/>
            <a:r>
              <a:rPr lang="en-US" altLang="en-US">
                <a:solidFill>
                  <a:schemeClr val="tx1"/>
                </a:solidFill>
                <a:latin typeface="Times New Roman" panose="02020603050405020304" charset="0"/>
                <a:cs typeface="Times New Roman" panose="02020603050405020304" charset="0"/>
              </a:rPr>
              <a:t>Business Question 6: Which products require management attention?</a:t>
            </a:r>
            <a:endParaRPr lang="en-US" altLang="en-US">
              <a:solidFill>
                <a:schemeClr val="tx1"/>
              </a:solidFill>
              <a:latin typeface="Times New Roman" panose="02020603050405020304" charset="0"/>
              <a:cs typeface="Times New Roman" panose="02020603050405020304" charset="0"/>
            </a:endParaRPr>
          </a:p>
        </p:txBody>
      </p:sp>
      <p:sp>
        <p:nvSpPr>
          <p:cNvPr id="6" name="Text Placeholder 2"/>
          <p:cNvSpPr>
            <a:spLocks noGrp="1"/>
          </p:cNvSpPr>
          <p:nvPr>
            <p:custDataLst>
              <p:tags r:id="rId2"/>
            </p:custDataLst>
          </p:nvPr>
        </p:nvSpPr>
        <p:spPr>
          <a:xfrm>
            <a:off x="1123315" y="1983105"/>
            <a:ext cx="9946005" cy="339725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a:solidFill>
                  <a:schemeClr val="tx1"/>
                </a:solidFill>
                <a:latin typeface="Times New Roman" panose="02020603050405020304" charset="0"/>
                <a:cs typeface="Times New Roman" panose="02020603050405020304" charset="0"/>
              </a:rPr>
              <a:t>Several premium products, including the Cubify CubeX 3D Printer Double Head, Lexmark MX611dhe Laser Printer, and Motorola Smart Phone, consistently generated losses despite their high market value. These losses may stem from excessive discounting, high procurement costs, warranty expenses, or poor pricing strategies.</a:t>
            </a:r>
            <a:endParaRPr lang="en-US" altLang="en-US">
              <a:solidFill>
                <a:schemeClr val="tx1"/>
              </a:solidFill>
              <a:latin typeface="Times New Roman" panose="02020603050405020304" charset="0"/>
              <a:cs typeface="Times New Roman" panose="02020603050405020304" charset="0"/>
            </a:endParaRPr>
          </a:p>
          <a:p>
            <a:pPr marL="0" indent="0"/>
            <a:endParaRPr lang="en-US" altLang="en-US">
              <a:solidFill>
                <a:schemeClr val="tx1"/>
              </a:solidFill>
              <a:latin typeface="Times New Roman" panose="02020603050405020304" charset="0"/>
              <a:cs typeface="Times New Roman" panose="02020603050405020304" charset="0"/>
            </a:endParaRPr>
          </a:p>
          <a:p>
            <a:pPr marL="0" indent="0"/>
            <a:r>
              <a:rPr lang="en-US" altLang="en-US">
                <a:solidFill>
                  <a:schemeClr val="accent2"/>
                </a:solidFill>
                <a:latin typeface="Times New Roman" panose="02020603050405020304" charset="0"/>
                <a:cs typeface="Times New Roman" panose="02020603050405020304" charset="0"/>
              </a:rPr>
              <a:t>Business Impact</a:t>
            </a:r>
            <a:endParaRPr lang="en-US" altLang="en-US">
              <a:solidFill>
                <a:schemeClr val="accent2"/>
              </a:solidFill>
              <a:latin typeface="Times New Roman" panose="02020603050405020304" charset="0"/>
              <a:cs typeface="Times New Roman" panose="02020603050405020304" charset="0"/>
            </a:endParaRPr>
          </a:p>
          <a:p>
            <a:pPr marL="0" indent="0"/>
            <a:r>
              <a:rPr lang="en-US" altLang="en-US">
                <a:solidFill>
                  <a:schemeClr val="tx1"/>
                </a:solidFill>
                <a:latin typeface="Times New Roman" panose="02020603050405020304" charset="0"/>
                <a:cs typeface="Times New Roman" panose="02020603050405020304" charset="0"/>
              </a:rPr>
              <a:t>Management should review these products to determine whether losses are driven by excessive discounting, high procurement costs, warranty expenses, or pricing strategies. If profitability cannot be improved, discontinuing or repositioning these products should be considered.</a:t>
            </a:r>
            <a:endParaRPr lang="en-US" altLang="en-US">
              <a:solidFill>
                <a:schemeClr val="tx1"/>
              </a:solidFill>
              <a:latin typeface="Times New Roman" panose="02020603050405020304" charset="0"/>
              <a:cs typeface="Times New Roman" panose="02020603050405020304" charset="0"/>
            </a:endParaRPr>
          </a:p>
        </p:txBody>
      </p:sp>
      <p:sp>
        <p:nvSpPr>
          <p:cNvPr id="8" name="Text Box 7"/>
          <p:cNvSpPr txBox="1"/>
          <p:nvPr/>
        </p:nvSpPr>
        <p:spPr>
          <a:xfrm>
            <a:off x="2654300" y="530860"/>
            <a:ext cx="6883400" cy="548640"/>
          </a:xfrm>
          <a:prstGeom prst="rect">
            <a:avLst/>
          </a:prstGeom>
          <a:noFill/>
        </p:spPr>
        <p:txBody>
          <a:bodyPr wrap="square" rtlCol="0">
            <a:noAutofit/>
          </a:bodyPr>
          <a:p>
            <a:pPr algn="ctr"/>
            <a:r>
              <a:rPr lang="en-US" altLang="en-US" sz="2800" b="1">
                <a:solidFill>
                  <a:schemeClr val="accent1"/>
                </a:solidFill>
                <a:latin typeface="Times New Roman" panose="02020603050405020304" charset="0"/>
                <a:cs typeface="Times New Roman" panose="02020603050405020304" charset="0"/>
              </a:rPr>
              <a:t>Products Requiring Immediate Review</a:t>
            </a:r>
            <a:endParaRPr lang="en-US" altLang="en-US" sz="2800" b="1">
              <a:solidFill>
                <a:schemeClr val="accent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89860" y="2555240"/>
            <a:ext cx="6812915" cy="1746885"/>
          </a:xfrm>
          <a:prstGeom prst="rect">
            <a:avLst/>
          </a:prstGeom>
          <a:noFill/>
        </p:spPr>
        <p:txBody>
          <a:bodyPr wrap="square" rtlCol="0">
            <a:noAutofit/>
          </a:bodyPr>
          <a:p>
            <a:pPr algn="ctr"/>
            <a:r>
              <a:rPr lang="en-US" sz="5400" b="1">
                <a:solidFill>
                  <a:schemeClr val="accent1"/>
                </a:solidFill>
                <a:latin typeface="Times New Roman" panose="02020603050405020304" charset="0"/>
                <a:cs typeface="Times New Roman" panose="02020603050405020304" charset="0"/>
              </a:rPr>
              <a:t>TIME ANALYSIS</a:t>
            </a:r>
            <a:endParaRPr lang="en-US" sz="5400" b="1">
              <a:solidFill>
                <a:schemeClr val="accent1"/>
              </a:solidFill>
              <a:latin typeface="Times New Roman" panose="02020603050405020304" charset="0"/>
              <a:cs typeface="Times New Roman" panose="02020603050405020304" charset="0"/>
            </a:endParaRPr>
          </a:p>
          <a:p>
            <a:pPr algn="ctr"/>
            <a:r>
              <a:rPr lang="en-US" sz="5400" b="1">
                <a:solidFill>
                  <a:schemeClr val="accent1"/>
                </a:solidFill>
                <a:latin typeface="Times New Roman" panose="02020603050405020304" charset="0"/>
                <a:cs typeface="Times New Roman" panose="02020603050405020304" charset="0"/>
              </a:rPr>
              <a:t>TREND</a:t>
            </a:r>
            <a:endParaRPr lang="en-US" sz="5400" b="1">
              <a:solidFill>
                <a:schemeClr val="accent1"/>
              </a:solidFill>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3" name="Picture 2" descr="Time Analysis"/>
          <p:cNvPicPr>
            <a:picLocks noChangeAspect="1"/>
          </p:cNvPicPr>
          <p:nvPr/>
        </p:nvPicPr>
        <p:blipFill>
          <a:blip r:embed="rId1"/>
          <a:stretch>
            <a:fillRect/>
          </a:stretch>
        </p:blipFill>
        <p:spPr>
          <a:xfrm>
            <a:off x="19685" y="0"/>
            <a:ext cx="12172315" cy="6858000"/>
          </a:xfrm>
          <a:prstGeom prst="rect">
            <a:avLst/>
          </a:prstGeom>
        </p:spPr>
      </p:pic>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72360" y="2555240"/>
            <a:ext cx="7654290" cy="873760"/>
          </a:xfrm>
          <a:prstGeom prst="rect">
            <a:avLst/>
          </a:prstGeom>
          <a:noFill/>
        </p:spPr>
        <p:txBody>
          <a:bodyPr wrap="square" rtlCol="0">
            <a:noAutofit/>
          </a:bodyPr>
          <a:p>
            <a:pPr algn="ctr"/>
            <a:r>
              <a:rPr lang="en-US" sz="5400" b="1">
                <a:solidFill>
                  <a:schemeClr val="accent1"/>
                </a:solidFill>
                <a:latin typeface="Times New Roman" panose="02020603050405020304" charset="0"/>
                <a:cs typeface="Times New Roman" panose="02020603050405020304" charset="0"/>
              </a:rPr>
              <a:t>RECOMMENDATIONS</a:t>
            </a:r>
            <a:endParaRPr lang="en-US" sz="5400" b="1">
              <a:solidFill>
                <a:schemeClr val="accent1"/>
              </a:solidFill>
              <a:latin typeface="Times New Roman" panose="02020603050405020304" charset="0"/>
              <a:cs typeface="Times New Roman" panose="02020603050405020304" charset="0"/>
            </a:endParaRPr>
          </a:p>
        </p:txBody>
      </p:sp>
      <p:sp>
        <p:nvSpPr>
          <p:cNvPr id="5" name="Text Box 4"/>
          <p:cNvSpPr txBox="1"/>
          <p:nvPr/>
        </p:nvSpPr>
        <p:spPr>
          <a:xfrm>
            <a:off x="1618615" y="3689985"/>
            <a:ext cx="8954135" cy="645160"/>
          </a:xfrm>
          <a:prstGeom prst="rect">
            <a:avLst/>
          </a:prstGeom>
          <a:noFill/>
        </p:spPr>
        <p:txBody>
          <a:bodyPr wrap="square" rtlCol="0">
            <a:spAutoFit/>
          </a:bodyPr>
          <a:p>
            <a:pPr algn="ctr"/>
            <a:r>
              <a:rPr lang="en-US" altLang="en-US">
                <a:solidFill>
                  <a:schemeClr val="tx1">
                    <a:lumMod val="85000"/>
                    <a:lumOff val="15000"/>
                  </a:schemeClr>
                </a:solidFill>
              </a:rPr>
              <a:t>Based on the findings from this analysis, the following actions are recommended to improve sales performance and profitability.</a:t>
            </a:r>
            <a:endParaRPr lang="en-US" altLang="en-US">
              <a:solidFill>
                <a:schemeClr val="tx1">
                  <a:lumMod val="85000"/>
                  <a:lumOff val="15000"/>
                </a:schemeClr>
              </a:solidFill>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1"/>
          <p:cNvSpPr/>
          <p:nvPr>
            <p:custDataLst>
              <p:tags r:id="rId1"/>
            </p:custDataLst>
          </p:nvPr>
        </p:nvSpPr>
        <p:spPr>
          <a:xfrm>
            <a:off x="8286115" y="1427480"/>
            <a:ext cx="2887200" cy="385200"/>
          </a:xfrm>
          <a:prstGeom prst="rect">
            <a:avLst/>
          </a:prstGeom>
          <a:noFill/>
        </p:spPr>
        <p:txBody>
          <a:bodyPr wrap="square" lIns="0" tIns="0" rIns="0" bIns="0" rtlCol="0" anchor="b" anchorCtr="0">
            <a:normAutofit fontScale="60000"/>
          </a:bodyPr>
          <a:p>
            <a:pPr>
              <a:spcBef>
                <a:spcPct val="0"/>
              </a:spcBef>
              <a:spcAft>
                <a:spcPct val="0"/>
              </a:spcAft>
            </a:pPr>
            <a:r>
              <a:rPr lang="en-US" altLang="en-US" sz="2000" b="1">
                <a:solidFill>
                  <a:schemeClr val="accent1"/>
                </a:solidFill>
                <a:latin typeface="Arial" panose="020B0604020202020204" pitchFamily="34" charset="0"/>
              </a:rPr>
              <a:t>Improve Performance in Low-Margin Markets</a:t>
            </a:r>
            <a:endParaRPr lang="en-US" altLang="en-US" sz="2000" b="1">
              <a:solidFill>
                <a:schemeClr val="accent1"/>
              </a:solidFill>
              <a:latin typeface="Arial" panose="020B0604020202020204" pitchFamily="34" charset="0"/>
            </a:endParaRPr>
          </a:p>
        </p:txBody>
      </p:sp>
      <p:sp>
        <p:nvSpPr>
          <p:cNvPr id="16" name="任意多边形 15"/>
          <p:cNvSpPr/>
          <p:nvPr>
            <p:custDataLst>
              <p:tags r:id="rId2"/>
            </p:custDataLst>
          </p:nvPr>
        </p:nvSpPr>
        <p:spPr>
          <a:xfrm>
            <a:off x="692150" y="3383281"/>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rgbClr val="E54C5E">
                    <a:alpha val="7000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fontScale="92500" lnSpcReduction="10000"/>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6" name="矩形 3"/>
          <p:cNvSpPr/>
          <p:nvPr>
            <p:custDataLst>
              <p:tags r:id="rId3"/>
            </p:custDataLst>
          </p:nvPr>
        </p:nvSpPr>
        <p:spPr>
          <a:xfrm>
            <a:off x="885190" y="2919096"/>
            <a:ext cx="2887200" cy="385200"/>
          </a:xfrm>
          <a:prstGeom prst="rect">
            <a:avLst/>
          </a:prstGeom>
          <a:noFill/>
        </p:spPr>
        <p:txBody>
          <a:bodyPr wrap="square" lIns="0" tIns="0" rIns="0" bIns="0" rtlCol="0" anchor="b" anchorCtr="0">
            <a:normAutofit fontScale="70000"/>
          </a:bodyPr>
          <a:p>
            <a:pPr algn="r">
              <a:spcBef>
                <a:spcPct val="0"/>
              </a:spcBef>
              <a:spcAft>
                <a:spcPct val="0"/>
              </a:spcAft>
            </a:pPr>
            <a:r>
              <a:rPr lang="en-US" altLang="en-US" sz="2000" b="1">
                <a:solidFill>
                  <a:schemeClr val="accent1"/>
                </a:solidFill>
                <a:latin typeface="Arial" panose="020B0604020202020204" pitchFamily="34" charset="0"/>
              </a:rPr>
              <a:t>Capitalize on Peak Sales Periods</a:t>
            </a:r>
            <a:endParaRPr lang="en-US" altLang="en-US" sz="2000" b="1">
              <a:solidFill>
                <a:schemeClr val="accent1"/>
              </a:solidFill>
              <a:latin typeface="Arial" panose="020B0604020202020204" pitchFamily="34" charset="0"/>
            </a:endParaRPr>
          </a:p>
        </p:txBody>
      </p:sp>
      <p:sp>
        <p:nvSpPr>
          <p:cNvPr id="8" name="矩形 4"/>
          <p:cNvSpPr/>
          <p:nvPr>
            <p:custDataLst>
              <p:tags r:id="rId4"/>
            </p:custDataLst>
          </p:nvPr>
        </p:nvSpPr>
        <p:spPr>
          <a:xfrm>
            <a:off x="744855" y="1545591"/>
            <a:ext cx="3478599" cy="1328400"/>
          </a:xfrm>
          <a:prstGeom prst="rect">
            <a:avLst/>
          </a:prstGeom>
          <a:noFill/>
        </p:spPr>
        <p:txBody>
          <a:bodyPr wrap="square" lIns="0" tIns="0" rIns="0" bIns="0" rtlCol="0" anchor="t" anchorCtr="0">
            <a:normAutofit/>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Review and standardize discount policies to prevent excessive discounting that erodes profit margins.</a:t>
            </a:r>
            <a:endParaRPr lang="en-US" altLang="en-US" sz="1600" dirty="0">
              <a:ln>
                <a:noFill/>
                <a:prstDash val="sysDot"/>
              </a:ln>
              <a:solidFill>
                <a:srgbClr val="000000">
                  <a:lumMod val="65000"/>
                  <a:lumOff val="35000"/>
                </a:srgbClr>
              </a:solidFill>
            </a:endParaRPr>
          </a:p>
        </p:txBody>
      </p:sp>
      <p:sp>
        <p:nvSpPr>
          <p:cNvPr id="11" name="矩形 7"/>
          <p:cNvSpPr/>
          <p:nvPr>
            <p:custDataLst>
              <p:tags r:id="rId5"/>
            </p:custDataLst>
          </p:nvPr>
        </p:nvSpPr>
        <p:spPr>
          <a:xfrm>
            <a:off x="648335" y="3430270"/>
            <a:ext cx="3124835" cy="1328400"/>
          </a:xfrm>
          <a:prstGeom prst="rect">
            <a:avLst/>
          </a:prstGeom>
          <a:noFill/>
        </p:spPr>
        <p:txBody>
          <a:bodyPr wrap="square" lIns="0" tIns="0" rIns="0" bIns="0" rtlCol="0" anchor="t" anchorCtr="0">
            <a:normAutofit fontScale="90000"/>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Increase inventory, marketing campaigns, and operational capacity ahead of Q4 to maximize revenue during the strongest sales season.</a:t>
            </a:r>
            <a:endParaRPr lang="en-US" altLang="en-US" sz="1600" dirty="0">
              <a:ln>
                <a:noFill/>
                <a:prstDash val="sysDot"/>
              </a:ln>
              <a:solidFill>
                <a:srgbClr val="000000">
                  <a:lumMod val="65000"/>
                  <a:lumOff val="35000"/>
                </a:srgbClr>
              </a:solidFill>
            </a:endParaRPr>
          </a:p>
        </p:txBody>
      </p:sp>
      <p:sp>
        <p:nvSpPr>
          <p:cNvPr id="14" name="矩形 13"/>
          <p:cNvSpPr/>
          <p:nvPr>
            <p:custDataLst>
              <p:tags r:id="rId6"/>
            </p:custDataLst>
          </p:nvPr>
        </p:nvSpPr>
        <p:spPr>
          <a:xfrm>
            <a:off x="8286115" y="2005331"/>
            <a:ext cx="3162300" cy="1328400"/>
          </a:xfrm>
          <a:prstGeom prst="rect">
            <a:avLst/>
          </a:prstGeom>
          <a:noFill/>
        </p:spPr>
        <p:txBody>
          <a:bodyPr wrap="square" lIns="0" tIns="0" rIns="0" bIns="0" rtlCol="0" anchor="t" anchorCtr="0">
            <a:normAutofit/>
          </a:bodyPr>
          <a:p>
            <a:pPr>
              <a:lnSpc>
                <a:spcPct val="130000"/>
              </a:lnSpc>
              <a:spcBef>
                <a:spcPct val="0"/>
              </a:spcBef>
              <a:spcAft>
                <a:spcPct val="0"/>
              </a:spcAft>
            </a:pPr>
            <a:r>
              <a:rPr lang="en-US" altLang="en-US" sz="1600" dirty="0">
                <a:ln>
                  <a:noFill/>
                  <a:prstDash val="sysDot"/>
                </a:ln>
                <a:solidFill>
                  <a:srgbClr val="000000">
                    <a:lumMod val="65000"/>
                    <a:lumOff val="35000"/>
                  </a:srgbClr>
                </a:solidFill>
              </a:rPr>
              <a:t>Investigate regions and countries with strong sales but weak profitability to identify pricing, cost, or operational inefficiencies.</a:t>
            </a:r>
            <a:endParaRPr lang="en-US" altLang="en-US" sz="1600" dirty="0">
              <a:ln>
                <a:noFill/>
                <a:prstDash val="sysDot"/>
              </a:ln>
              <a:solidFill>
                <a:srgbClr val="000000">
                  <a:lumMod val="65000"/>
                  <a:lumOff val="35000"/>
                </a:srgbClr>
              </a:solidFill>
            </a:endParaRPr>
          </a:p>
        </p:txBody>
      </p:sp>
      <p:sp>
        <p:nvSpPr>
          <p:cNvPr id="15" name="矩形 14"/>
          <p:cNvSpPr/>
          <p:nvPr>
            <p:custDataLst>
              <p:tags r:id="rId7"/>
            </p:custDataLst>
          </p:nvPr>
        </p:nvSpPr>
        <p:spPr>
          <a:xfrm>
            <a:off x="1334770" y="1063625"/>
            <a:ext cx="2887200" cy="385200"/>
          </a:xfrm>
          <a:prstGeom prst="rect">
            <a:avLst/>
          </a:prstGeom>
          <a:noFill/>
        </p:spPr>
        <p:txBody>
          <a:bodyPr wrap="square" lIns="0" tIns="0" rIns="0" bIns="0" rtlCol="0" anchor="b" anchorCtr="0">
            <a:normAutofit fontScale="80000"/>
          </a:bodyPr>
          <a:p>
            <a:pPr algn="r">
              <a:spcBef>
                <a:spcPct val="0"/>
              </a:spcBef>
              <a:spcAft>
                <a:spcPct val="0"/>
              </a:spcAft>
            </a:pPr>
            <a:r>
              <a:rPr lang="en-US" altLang="en-US" sz="2000" b="1" dirty="0">
                <a:solidFill>
                  <a:schemeClr val="accent1"/>
                </a:solidFill>
                <a:latin typeface="Arial" panose="020B0604020202020204" pitchFamily="34" charset="0"/>
              </a:rPr>
              <a:t>Optimize Discount Strategy</a:t>
            </a:r>
            <a:endParaRPr lang="en-US" altLang="en-US" sz="2000" b="1" dirty="0">
              <a:solidFill>
                <a:schemeClr val="accent1"/>
              </a:solidFill>
              <a:latin typeface="Arial" panose="020B0604020202020204" pitchFamily="34" charset="0"/>
            </a:endParaRPr>
          </a:p>
        </p:txBody>
      </p:sp>
      <p:sp>
        <p:nvSpPr>
          <p:cNvPr id="12" name="Text Box 11"/>
          <p:cNvSpPr txBox="1"/>
          <p:nvPr/>
        </p:nvSpPr>
        <p:spPr>
          <a:xfrm>
            <a:off x="436880" y="59055"/>
            <a:ext cx="1769745" cy="229235"/>
          </a:xfrm>
          <a:prstGeom prst="rect">
            <a:avLst/>
          </a:prstGeom>
          <a:noFill/>
        </p:spPr>
        <p:txBody>
          <a:bodyPr wrap="square" rtlCol="0">
            <a:noAutofit/>
          </a:bodyPr>
          <a:p>
            <a:r>
              <a:rPr lang="en-US" sz="1200" b="1">
                <a:solidFill>
                  <a:schemeClr val="accent2"/>
                </a:solidFill>
                <a:latin typeface="Times New Roman" panose="02020603050405020304" charset="0"/>
                <a:cs typeface="Times New Roman" panose="02020603050405020304" charset="0"/>
              </a:rPr>
              <a:t>RECOMENDATION</a:t>
            </a:r>
            <a:endParaRPr lang="en-US" sz="1200" b="1">
              <a:solidFill>
                <a:schemeClr val="accent2"/>
              </a:solidFill>
              <a:latin typeface="Times New Roman" panose="02020603050405020304" charset="0"/>
              <a:cs typeface="Times New Roman" panose="02020603050405020304" charset="0"/>
            </a:endParaRPr>
          </a:p>
        </p:txBody>
      </p:sp>
      <p:sp>
        <p:nvSpPr>
          <p:cNvPr id="13" name="任意多边形 29"/>
          <p:cNvSpPr/>
          <p:nvPr>
            <p:custDataLst>
              <p:tags r:id="rId8"/>
            </p:custDataLst>
          </p:nvPr>
        </p:nvSpPr>
        <p:spPr>
          <a:xfrm>
            <a:off x="4297045" y="2183766"/>
            <a:ext cx="620833" cy="2182348"/>
          </a:xfrm>
          <a:custGeom>
            <a:avLst/>
            <a:gdLst>
              <a:gd name="connsiteX0" fmla="*/ 0 w 757"/>
              <a:gd name="connsiteY0" fmla="*/ 0 h 2661"/>
              <a:gd name="connsiteX1" fmla="*/ 757 w 757"/>
              <a:gd name="connsiteY1" fmla="*/ 149 h 2661"/>
              <a:gd name="connsiteX2" fmla="*/ 749 w 757"/>
              <a:gd name="connsiteY2" fmla="*/ 2453 h 2661"/>
              <a:gd name="connsiteX3" fmla="*/ 17 w 757"/>
              <a:gd name="connsiteY3" fmla="*/ 2661 h 2661"/>
              <a:gd name="connsiteX4" fmla="*/ 0 w 757"/>
              <a:gd name="connsiteY4" fmla="*/ 0 h 2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 h="2661">
                <a:moveTo>
                  <a:pt x="0" y="0"/>
                </a:moveTo>
                <a:lnTo>
                  <a:pt x="757" y="149"/>
                </a:lnTo>
                <a:lnTo>
                  <a:pt x="749" y="2453"/>
                </a:lnTo>
                <a:lnTo>
                  <a:pt x="17" y="2661"/>
                </a:lnTo>
                <a:lnTo>
                  <a:pt x="0"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01</a:t>
            </a:r>
            <a:endParaRPr lang="en-US" b="1">
              <a:solidFill>
                <a:srgbClr val="FFFFFF"/>
              </a:solidFill>
              <a:latin typeface="Microsoft YaHei" panose="020B0503020204020204" charset="-122"/>
              <a:sym typeface="Microsoft YaHei" panose="020B0503020204020204" charset="-122"/>
            </a:endParaRPr>
          </a:p>
        </p:txBody>
      </p:sp>
      <p:sp>
        <p:nvSpPr>
          <p:cNvPr id="17" name="任意多边形 30"/>
          <p:cNvSpPr/>
          <p:nvPr>
            <p:custDataLst>
              <p:tags r:id="rId9"/>
            </p:custDataLst>
          </p:nvPr>
        </p:nvSpPr>
        <p:spPr>
          <a:xfrm>
            <a:off x="5276850" y="1610996"/>
            <a:ext cx="901316" cy="3327241"/>
          </a:xfrm>
          <a:custGeom>
            <a:avLst/>
            <a:gdLst>
              <a:gd name="connsiteX0" fmla="*/ 0 w 1099"/>
              <a:gd name="connsiteY0" fmla="*/ 0 h 4057"/>
              <a:gd name="connsiteX1" fmla="*/ 1099 w 1099"/>
              <a:gd name="connsiteY1" fmla="*/ 418 h 4057"/>
              <a:gd name="connsiteX2" fmla="*/ 1099 w 1099"/>
              <a:gd name="connsiteY2" fmla="*/ 3626 h 4057"/>
              <a:gd name="connsiteX3" fmla="*/ 0 w 1099"/>
              <a:gd name="connsiteY3" fmla="*/ 4057 h 4057"/>
              <a:gd name="connsiteX4" fmla="*/ 0 w 1099"/>
              <a:gd name="connsiteY4" fmla="*/ 0 h 4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 h="4057">
                <a:moveTo>
                  <a:pt x="0" y="0"/>
                </a:moveTo>
                <a:lnTo>
                  <a:pt x="1099" y="418"/>
                </a:lnTo>
                <a:lnTo>
                  <a:pt x="1099" y="3626"/>
                </a:lnTo>
                <a:lnTo>
                  <a:pt x="0" y="4057"/>
                </a:lnTo>
                <a:lnTo>
                  <a:pt x="0" y="0"/>
                </a:lnTo>
                <a:close/>
              </a:path>
            </a:pathLst>
          </a:custGeom>
          <a:gradFill>
            <a:gsLst>
              <a:gs pos="54000">
                <a:srgbClr val="17D594"/>
              </a:gs>
              <a:gs pos="0">
                <a:srgbClr val="17D594">
                  <a:lumMod val="60000"/>
                  <a:lumOff val="40000"/>
                </a:srgbClr>
              </a:gs>
              <a:gs pos="100000">
                <a:srgbClr val="17D594">
                  <a:lumMod val="60000"/>
                  <a:lumOff val="40000"/>
                </a:srgbClr>
              </a:gs>
            </a:gsLst>
            <a:lin ang="5400000" scaled="0"/>
          </a:gradFill>
          <a:ln>
            <a:gradFill>
              <a:gsLst>
                <a:gs pos="32000">
                  <a:srgbClr val="376FFF">
                    <a:lumMod val="5000"/>
                    <a:lumOff val="95000"/>
                  </a:srgbClr>
                </a:gs>
                <a:gs pos="0">
                  <a:srgbClr val="17D594">
                    <a:lumMod val="20000"/>
                    <a:lumOff val="80000"/>
                  </a:srgbClr>
                </a:gs>
                <a:gs pos="100000">
                  <a:srgbClr val="FFFFFF"/>
                </a:gs>
                <a:gs pos="71000">
                  <a:srgbClr val="17D594">
                    <a:lumMod val="20000"/>
                    <a:lumOff val="80000"/>
                  </a:srgbClr>
                </a:gs>
              </a:gsLst>
              <a:lin ang="16200000" scaled="1"/>
            </a:gradFill>
          </a:ln>
          <a:effectLst>
            <a:outerShdw blurRad="254000" dist="152400" dir="5400000" algn="t" rotWithShape="0">
              <a:srgbClr val="17D594">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02</a:t>
            </a:r>
            <a:endParaRPr lang="en-US" b="1">
              <a:solidFill>
                <a:srgbClr val="FFFFFF"/>
              </a:solidFill>
              <a:latin typeface="Microsoft YaHei" panose="020B0503020204020204" charset="-122"/>
              <a:sym typeface="Microsoft YaHei" panose="020B0503020204020204" charset="-122"/>
            </a:endParaRPr>
          </a:p>
        </p:txBody>
      </p:sp>
      <p:sp>
        <p:nvSpPr>
          <p:cNvPr id="18" name="任意多边形 32"/>
          <p:cNvSpPr/>
          <p:nvPr>
            <p:custDataLst>
              <p:tags r:id="rId10"/>
            </p:custDataLst>
          </p:nvPr>
        </p:nvSpPr>
        <p:spPr>
          <a:xfrm>
            <a:off x="6515100" y="1191896"/>
            <a:ext cx="1019413" cy="4004663"/>
          </a:xfrm>
          <a:custGeom>
            <a:avLst/>
            <a:gdLst>
              <a:gd name="connsiteX0" fmla="*/ 15 w 1243"/>
              <a:gd name="connsiteY0" fmla="*/ 0 h 4883"/>
              <a:gd name="connsiteX1" fmla="*/ 1232 w 1243"/>
              <a:gd name="connsiteY1" fmla="*/ 712 h 4883"/>
              <a:gd name="connsiteX2" fmla="*/ 1243 w 1243"/>
              <a:gd name="connsiteY2" fmla="*/ 4288 h 4883"/>
              <a:gd name="connsiteX3" fmla="*/ 0 w 1243"/>
              <a:gd name="connsiteY3" fmla="*/ 4883 h 4883"/>
              <a:gd name="connsiteX4" fmla="*/ 15 w 1243"/>
              <a:gd name="connsiteY4" fmla="*/ 0 h 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 h="4883">
                <a:moveTo>
                  <a:pt x="15" y="0"/>
                </a:moveTo>
                <a:lnTo>
                  <a:pt x="1232" y="712"/>
                </a:lnTo>
                <a:lnTo>
                  <a:pt x="1243" y="4288"/>
                </a:lnTo>
                <a:lnTo>
                  <a:pt x="0" y="4883"/>
                </a:lnTo>
                <a:lnTo>
                  <a:pt x="15"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03</a:t>
            </a:r>
            <a:endParaRPr lang="en-US" b="1">
              <a:solidFill>
                <a:srgbClr val="FFFFFF"/>
              </a:solidFill>
              <a:latin typeface="Microsoft YaHei" panose="020B0503020204020204" charset="-122"/>
              <a:sym typeface="Microsoft YaHei" panose="020B0503020204020204" charset="-122"/>
            </a:endParaRPr>
          </a:p>
        </p:txBody>
      </p:sp>
      <p:sp>
        <p:nvSpPr>
          <p:cNvPr id="19" name="任意多边形 15"/>
          <p:cNvSpPr/>
          <p:nvPr>
            <p:custDataLst>
              <p:tags r:id="rId11"/>
            </p:custDataLst>
          </p:nvPr>
        </p:nvSpPr>
        <p:spPr>
          <a:xfrm>
            <a:off x="685800" y="3388361"/>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rgbClr val="376FFF">
                    <a:alpha val="7000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fontScale="92500" lnSpcReduction="10000"/>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0" name="任意多边形 23"/>
          <p:cNvSpPr/>
          <p:nvPr>
            <p:custDataLst>
              <p:tags r:id="rId12"/>
            </p:custDataLst>
          </p:nvPr>
        </p:nvSpPr>
        <p:spPr>
          <a:xfrm>
            <a:off x="7582535" y="1934846"/>
            <a:ext cx="3696296" cy="655279"/>
          </a:xfrm>
          <a:custGeom>
            <a:avLst/>
            <a:gdLst>
              <a:gd name="connsiteX0" fmla="*/ 0 w 4507"/>
              <a:gd name="connsiteY0" fmla="*/ 799 h 799"/>
              <a:gd name="connsiteX1" fmla="*/ 820 w 4507"/>
              <a:gd name="connsiteY1" fmla="*/ 0 h 799"/>
              <a:gd name="connsiteX2" fmla="*/ 4507 w 4507"/>
              <a:gd name="connsiteY2" fmla="*/ 0 h 799"/>
            </a:gdLst>
            <a:ahLst/>
            <a:cxnLst>
              <a:cxn ang="0">
                <a:pos x="connsiteX0" y="connsiteY0"/>
              </a:cxn>
              <a:cxn ang="0">
                <a:pos x="connsiteX1" y="connsiteY1"/>
              </a:cxn>
              <a:cxn ang="0">
                <a:pos x="connsiteX2" y="connsiteY2"/>
              </a:cxn>
            </a:cxnLst>
            <a:rect l="l" t="t" r="r" b="b"/>
            <a:pathLst>
              <a:path w="4507" h="799">
                <a:moveTo>
                  <a:pt x="0" y="799"/>
                </a:moveTo>
                <a:lnTo>
                  <a:pt x="820" y="0"/>
                </a:lnTo>
                <a:lnTo>
                  <a:pt x="4507" y="0"/>
                </a:lnTo>
              </a:path>
            </a:pathLst>
          </a:custGeom>
          <a:noFill/>
          <a:ln>
            <a:gradFill>
              <a:gsLst>
                <a:gs pos="100000">
                  <a:srgbClr val="AFC6FF">
                    <a:alpha val="0"/>
                  </a:srgbClr>
                </a:gs>
                <a:gs pos="47000">
                  <a:srgbClr val="376FFF">
                    <a:alpha val="70000"/>
                  </a:srgbClr>
                </a:gs>
              </a:gsLst>
              <a:lin ang="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2" name="任意多边形 2"/>
          <p:cNvSpPr/>
          <p:nvPr>
            <p:custDataLst>
              <p:tags r:id="rId13"/>
            </p:custDataLst>
          </p:nvPr>
        </p:nvSpPr>
        <p:spPr>
          <a:xfrm>
            <a:off x="1447165" y="1499871"/>
            <a:ext cx="3606629" cy="619365"/>
          </a:xfrm>
          <a:custGeom>
            <a:avLst/>
            <a:gdLst>
              <a:gd name="connsiteX0" fmla="*/ 0 w 4050"/>
              <a:gd name="connsiteY0" fmla="*/ 0 h 798"/>
              <a:gd name="connsiteX1" fmla="*/ 3411 w 4050"/>
              <a:gd name="connsiteY1" fmla="*/ 0 h 798"/>
              <a:gd name="connsiteX2" fmla="*/ 4050 w 4050"/>
              <a:gd name="connsiteY2" fmla="*/ 798 h 798"/>
            </a:gdLst>
            <a:ahLst/>
            <a:cxnLst>
              <a:cxn ang="0">
                <a:pos x="connsiteX0" y="connsiteY0"/>
              </a:cxn>
              <a:cxn ang="0">
                <a:pos x="connsiteX1" y="connsiteY1"/>
              </a:cxn>
              <a:cxn ang="0">
                <a:pos x="connsiteX2" y="connsiteY2"/>
              </a:cxn>
            </a:cxnLst>
            <a:rect l="l" t="t" r="r" b="b"/>
            <a:pathLst>
              <a:path w="4050" h="798">
                <a:moveTo>
                  <a:pt x="0" y="0"/>
                </a:moveTo>
                <a:lnTo>
                  <a:pt x="3411" y="0"/>
                </a:lnTo>
                <a:lnTo>
                  <a:pt x="4050" y="798"/>
                </a:lnTo>
              </a:path>
            </a:pathLst>
          </a:custGeom>
          <a:noFill/>
          <a:ln>
            <a:gradFill>
              <a:gsLst>
                <a:gs pos="0">
                  <a:srgbClr val="17D594"/>
                </a:gs>
                <a:gs pos="100000">
                  <a:srgbClr val="17D594">
                    <a:alpha val="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5" name="椭圆 8"/>
          <p:cNvSpPr/>
          <p:nvPr>
            <p:custDataLst>
              <p:tags r:id="rId14"/>
            </p:custDataLst>
          </p:nvPr>
        </p:nvSpPr>
        <p:spPr>
          <a:xfrm>
            <a:off x="1568450" y="4060191"/>
            <a:ext cx="8939346" cy="1896945"/>
          </a:xfrm>
          <a:prstGeom prst="ellipse">
            <a:avLst/>
          </a:prstGeom>
          <a:noFill/>
          <a:ln w="19050">
            <a:gradFill>
              <a:gsLst>
                <a:gs pos="31000">
                  <a:srgbClr val="AFC6FF">
                    <a:alpha val="0"/>
                  </a:srgbClr>
                </a:gs>
                <a:gs pos="77000">
                  <a:srgbClr val="376FFF">
                    <a:lumMod val="60000"/>
                    <a:lumOff val="40000"/>
                    <a:alpha val="70000"/>
                  </a:srgbClr>
                </a:gs>
              </a:gsLst>
              <a:lin ang="540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
        <p:nvSpPr>
          <p:cNvPr id="26" name="椭圆 9"/>
          <p:cNvSpPr/>
          <p:nvPr>
            <p:custDataLst>
              <p:tags r:id="rId15"/>
            </p:custDataLst>
          </p:nvPr>
        </p:nvSpPr>
        <p:spPr>
          <a:xfrm>
            <a:off x="2565400" y="4060191"/>
            <a:ext cx="6945626" cy="1386009"/>
          </a:xfrm>
          <a:prstGeom prst="ellipse">
            <a:avLst/>
          </a:prstGeom>
          <a:noFill/>
          <a:ln w="53975">
            <a:gradFill>
              <a:gsLst>
                <a:gs pos="38000">
                  <a:srgbClr val="AFC6FF">
                    <a:alpha val="0"/>
                  </a:srgbClr>
                </a:gs>
                <a:gs pos="85000">
                  <a:srgbClr val="376FFF">
                    <a:alpha val="65000"/>
                  </a:srgbClr>
                </a:gs>
              </a:gsLst>
              <a:lin ang="546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Tree>
    <p:custDataLst>
      <p:tags r:id="rId16"/>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1"/>
          <p:cNvSpPr/>
          <p:nvPr>
            <p:custDataLst>
              <p:tags r:id="rId1"/>
            </p:custDataLst>
          </p:nvPr>
        </p:nvSpPr>
        <p:spPr>
          <a:xfrm>
            <a:off x="8286115" y="1427480"/>
            <a:ext cx="2887200" cy="385200"/>
          </a:xfrm>
          <a:prstGeom prst="rect">
            <a:avLst/>
          </a:prstGeom>
          <a:noFill/>
        </p:spPr>
        <p:txBody>
          <a:bodyPr wrap="square" lIns="0" tIns="0" rIns="0" bIns="0" rtlCol="0" anchor="b" anchorCtr="0">
            <a:normAutofit fontScale="70000"/>
          </a:bodyPr>
          <a:p>
            <a:pPr>
              <a:spcBef>
                <a:spcPct val="0"/>
              </a:spcBef>
              <a:spcAft>
                <a:spcPct val="0"/>
              </a:spcAft>
            </a:pPr>
            <a:r>
              <a:rPr lang="en-US" altLang="en-US" sz="2000" b="1">
                <a:solidFill>
                  <a:schemeClr val="accent1"/>
                </a:solidFill>
                <a:latin typeface="Arial" panose="020B0604020202020204" pitchFamily="34" charset="0"/>
              </a:rPr>
              <a:t>Build on High-Performing Markets</a:t>
            </a:r>
            <a:endParaRPr lang="en-US" altLang="en-US" sz="2000" b="1">
              <a:solidFill>
                <a:schemeClr val="accent1"/>
              </a:solidFill>
              <a:latin typeface="Arial" panose="020B0604020202020204" pitchFamily="34" charset="0"/>
            </a:endParaRPr>
          </a:p>
        </p:txBody>
      </p:sp>
      <p:sp>
        <p:nvSpPr>
          <p:cNvPr id="6" name="矩形 3"/>
          <p:cNvSpPr/>
          <p:nvPr>
            <p:custDataLst>
              <p:tags r:id="rId2"/>
            </p:custDataLst>
          </p:nvPr>
        </p:nvSpPr>
        <p:spPr>
          <a:xfrm>
            <a:off x="885190" y="3086736"/>
            <a:ext cx="2887200" cy="385200"/>
          </a:xfrm>
          <a:prstGeom prst="rect">
            <a:avLst/>
          </a:prstGeom>
          <a:noFill/>
        </p:spPr>
        <p:txBody>
          <a:bodyPr wrap="square" lIns="0" tIns="0" rIns="0" bIns="0" rtlCol="0" anchor="b" anchorCtr="0">
            <a:normAutofit fontScale="80000"/>
          </a:bodyPr>
          <a:p>
            <a:pPr algn="r">
              <a:spcBef>
                <a:spcPct val="0"/>
              </a:spcBef>
              <a:spcAft>
                <a:spcPct val="0"/>
              </a:spcAft>
            </a:pPr>
            <a:r>
              <a:rPr lang="en-US" altLang="en-US" sz="2000" b="1">
                <a:solidFill>
                  <a:schemeClr val="accent1"/>
                </a:solidFill>
                <a:latin typeface="Arial" panose="020B0604020202020204" pitchFamily="34" charset="0"/>
              </a:rPr>
              <a:t>Retain High-Value Customers</a:t>
            </a:r>
            <a:endParaRPr lang="en-US" altLang="en-US" sz="2000" b="1">
              <a:solidFill>
                <a:schemeClr val="accent1"/>
              </a:solidFill>
              <a:latin typeface="Arial" panose="020B0604020202020204" pitchFamily="34" charset="0"/>
            </a:endParaRPr>
          </a:p>
        </p:txBody>
      </p:sp>
      <p:sp>
        <p:nvSpPr>
          <p:cNvPr id="8" name="矩形 4"/>
          <p:cNvSpPr/>
          <p:nvPr>
            <p:custDataLst>
              <p:tags r:id="rId3"/>
            </p:custDataLst>
          </p:nvPr>
        </p:nvSpPr>
        <p:spPr>
          <a:xfrm>
            <a:off x="744855" y="1545591"/>
            <a:ext cx="3478599" cy="1328400"/>
          </a:xfrm>
          <a:prstGeom prst="rect">
            <a:avLst/>
          </a:prstGeom>
          <a:noFill/>
        </p:spPr>
        <p:txBody>
          <a:bodyPr wrap="square" lIns="0" tIns="0" rIns="0" bIns="0" rtlCol="0" anchor="t" anchorCtr="0">
            <a:normAutofit fontScale="90000" lnSpcReduction="10000"/>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Assess the pricing, procurement costs, and profitability of consistently loss-making products. Consider repricing, renegotiating supplier costs, or discontinuing products that remain unprofitable.</a:t>
            </a:r>
            <a:endParaRPr lang="en-US" altLang="en-US" sz="1600" dirty="0">
              <a:ln>
                <a:noFill/>
                <a:prstDash val="sysDot"/>
              </a:ln>
              <a:solidFill>
                <a:srgbClr val="000000">
                  <a:lumMod val="65000"/>
                  <a:lumOff val="35000"/>
                </a:srgbClr>
              </a:solidFill>
            </a:endParaRPr>
          </a:p>
        </p:txBody>
      </p:sp>
      <p:sp>
        <p:nvSpPr>
          <p:cNvPr id="11" name="矩形 7"/>
          <p:cNvSpPr/>
          <p:nvPr>
            <p:custDataLst>
              <p:tags r:id="rId4"/>
            </p:custDataLst>
          </p:nvPr>
        </p:nvSpPr>
        <p:spPr>
          <a:xfrm>
            <a:off x="648335" y="3628390"/>
            <a:ext cx="3124835" cy="1328400"/>
          </a:xfrm>
          <a:prstGeom prst="rect">
            <a:avLst/>
          </a:prstGeom>
          <a:noFill/>
        </p:spPr>
        <p:txBody>
          <a:bodyPr wrap="square" lIns="0" tIns="0" rIns="0" bIns="0" rtlCol="0" anchor="t" anchorCtr="0">
            <a:normAutofit fontScale="90000"/>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Develop loyalty initiatives and personalized engagement strategies for top customers to strengthen long-term customer retention.</a:t>
            </a:r>
            <a:endParaRPr lang="en-US" altLang="en-US" sz="1600" dirty="0">
              <a:ln>
                <a:noFill/>
                <a:prstDash val="sysDot"/>
              </a:ln>
              <a:solidFill>
                <a:srgbClr val="000000">
                  <a:lumMod val="65000"/>
                  <a:lumOff val="35000"/>
                </a:srgbClr>
              </a:solidFill>
            </a:endParaRPr>
          </a:p>
        </p:txBody>
      </p:sp>
      <p:sp>
        <p:nvSpPr>
          <p:cNvPr id="14" name="矩形 13"/>
          <p:cNvSpPr/>
          <p:nvPr>
            <p:custDataLst>
              <p:tags r:id="rId5"/>
            </p:custDataLst>
          </p:nvPr>
        </p:nvSpPr>
        <p:spPr>
          <a:xfrm>
            <a:off x="8286115" y="2005331"/>
            <a:ext cx="3162300" cy="1328400"/>
          </a:xfrm>
          <a:prstGeom prst="rect">
            <a:avLst/>
          </a:prstGeom>
          <a:noFill/>
        </p:spPr>
        <p:txBody>
          <a:bodyPr wrap="square" lIns="0" tIns="0" rIns="0" bIns="0" rtlCol="0" anchor="t" anchorCtr="0">
            <a:normAutofit fontScale="90000"/>
          </a:bodyPr>
          <a:p>
            <a:pPr>
              <a:lnSpc>
                <a:spcPct val="130000"/>
              </a:lnSpc>
              <a:spcBef>
                <a:spcPct val="0"/>
              </a:spcBef>
              <a:spcAft>
                <a:spcPct val="0"/>
              </a:spcAft>
            </a:pPr>
            <a:r>
              <a:rPr lang="en-US" altLang="en-US" sz="1600" dirty="0">
                <a:ln>
                  <a:noFill/>
                  <a:prstDash val="sysDot"/>
                </a:ln>
                <a:solidFill>
                  <a:srgbClr val="000000">
                    <a:lumMod val="65000"/>
                    <a:lumOff val="35000"/>
                  </a:srgbClr>
                </a:solidFill>
              </a:rPr>
              <a:t>Leverage the strategies driving success in the Central region and the United States to improve performance in underperforming markets.</a:t>
            </a:r>
            <a:endParaRPr lang="en-US" altLang="en-US" sz="1600" dirty="0">
              <a:ln>
                <a:noFill/>
                <a:prstDash val="sysDot"/>
              </a:ln>
              <a:solidFill>
                <a:srgbClr val="000000">
                  <a:lumMod val="65000"/>
                  <a:lumOff val="35000"/>
                </a:srgbClr>
              </a:solidFill>
            </a:endParaRPr>
          </a:p>
        </p:txBody>
      </p:sp>
      <p:sp>
        <p:nvSpPr>
          <p:cNvPr id="15" name="矩形 14"/>
          <p:cNvSpPr/>
          <p:nvPr>
            <p:custDataLst>
              <p:tags r:id="rId6"/>
            </p:custDataLst>
          </p:nvPr>
        </p:nvSpPr>
        <p:spPr>
          <a:xfrm>
            <a:off x="1334770" y="1063625"/>
            <a:ext cx="2887200" cy="385200"/>
          </a:xfrm>
          <a:prstGeom prst="rect">
            <a:avLst/>
          </a:prstGeom>
          <a:noFill/>
        </p:spPr>
        <p:txBody>
          <a:bodyPr wrap="square" lIns="0" tIns="0" rIns="0" bIns="0" rtlCol="0" anchor="b" anchorCtr="0">
            <a:normAutofit fontScale="70000"/>
          </a:bodyPr>
          <a:p>
            <a:pPr algn="r">
              <a:spcBef>
                <a:spcPct val="0"/>
              </a:spcBef>
              <a:spcAft>
                <a:spcPct val="0"/>
              </a:spcAft>
            </a:pPr>
            <a:r>
              <a:rPr lang="en-US" altLang="en-US" sz="2000" b="1" dirty="0">
                <a:solidFill>
                  <a:schemeClr val="accent1"/>
                </a:solidFill>
                <a:latin typeface="Arial" panose="020B0604020202020204" pitchFamily="34" charset="0"/>
              </a:rPr>
              <a:t>Review Loss-Making Products</a:t>
            </a:r>
            <a:endParaRPr lang="en-US" altLang="en-US" sz="2000" b="1" dirty="0">
              <a:solidFill>
                <a:schemeClr val="accent1"/>
              </a:solidFill>
              <a:latin typeface="Arial" panose="020B0604020202020204" pitchFamily="34" charset="0"/>
            </a:endParaRPr>
          </a:p>
        </p:txBody>
      </p:sp>
      <p:sp>
        <p:nvSpPr>
          <p:cNvPr id="12" name="Text Box 11"/>
          <p:cNvSpPr txBox="1"/>
          <p:nvPr/>
        </p:nvSpPr>
        <p:spPr>
          <a:xfrm>
            <a:off x="436880" y="59055"/>
            <a:ext cx="1769745" cy="229235"/>
          </a:xfrm>
          <a:prstGeom prst="rect">
            <a:avLst/>
          </a:prstGeom>
          <a:noFill/>
        </p:spPr>
        <p:txBody>
          <a:bodyPr wrap="square" rtlCol="0">
            <a:noAutofit/>
          </a:bodyPr>
          <a:p>
            <a:r>
              <a:rPr lang="en-US" sz="1200" b="1">
                <a:solidFill>
                  <a:schemeClr val="accent2"/>
                </a:solidFill>
                <a:latin typeface="Times New Roman" panose="02020603050405020304" charset="0"/>
                <a:cs typeface="Times New Roman" panose="02020603050405020304" charset="0"/>
              </a:rPr>
              <a:t>RECOMENDATION</a:t>
            </a:r>
            <a:endParaRPr lang="en-US" sz="1200" b="1">
              <a:solidFill>
                <a:schemeClr val="accent2"/>
              </a:solidFill>
              <a:latin typeface="Times New Roman" panose="02020603050405020304" charset="0"/>
              <a:cs typeface="Times New Roman" panose="02020603050405020304" charset="0"/>
            </a:endParaRPr>
          </a:p>
        </p:txBody>
      </p:sp>
      <p:sp>
        <p:nvSpPr>
          <p:cNvPr id="2" name="任意多边形 29"/>
          <p:cNvSpPr/>
          <p:nvPr>
            <p:custDataLst>
              <p:tags r:id="rId7"/>
            </p:custDataLst>
          </p:nvPr>
        </p:nvSpPr>
        <p:spPr>
          <a:xfrm>
            <a:off x="4314825" y="2207896"/>
            <a:ext cx="620833" cy="2182348"/>
          </a:xfrm>
          <a:custGeom>
            <a:avLst/>
            <a:gdLst>
              <a:gd name="connsiteX0" fmla="*/ 0 w 757"/>
              <a:gd name="connsiteY0" fmla="*/ 0 h 2661"/>
              <a:gd name="connsiteX1" fmla="*/ 757 w 757"/>
              <a:gd name="connsiteY1" fmla="*/ 149 h 2661"/>
              <a:gd name="connsiteX2" fmla="*/ 749 w 757"/>
              <a:gd name="connsiteY2" fmla="*/ 2453 h 2661"/>
              <a:gd name="connsiteX3" fmla="*/ 17 w 757"/>
              <a:gd name="connsiteY3" fmla="*/ 2661 h 2661"/>
              <a:gd name="connsiteX4" fmla="*/ 0 w 757"/>
              <a:gd name="connsiteY4" fmla="*/ 0 h 2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 h="2661">
                <a:moveTo>
                  <a:pt x="0" y="0"/>
                </a:moveTo>
                <a:lnTo>
                  <a:pt x="757" y="149"/>
                </a:lnTo>
                <a:lnTo>
                  <a:pt x="749" y="2453"/>
                </a:lnTo>
                <a:lnTo>
                  <a:pt x="17" y="2661"/>
                </a:lnTo>
                <a:lnTo>
                  <a:pt x="0"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04</a:t>
            </a:r>
            <a:endParaRPr lang="en-US" b="1">
              <a:solidFill>
                <a:srgbClr val="FFFFFF"/>
              </a:solidFill>
              <a:latin typeface="Microsoft YaHei" panose="020B0503020204020204" charset="-122"/>
              <a:sym typeface="Microsoft YaHei" panose="020B0503020204020204" charset="-122"/>
            </a:endParaRPr>
          </a:p>
        </p:txBody>
      </p:sp>
      <p:sp>
        <p:nvSpPr>
          <p:cNvPr id="3" name="任意多边形 30"/>
          <p:cNvSpPr/>
          <p:nvPr>
            <p:custDataLst>
              <p:tags r:id="rId8"/>
            </p:custDataLst>
          </p:nvPr>
        </p:nvSpPr>
        <p:spPr>
          <a:xfrm>
            <a:off x="5294630" y="1635126"/>
            <a:ext cx="901316" cy="3327241"/>
          </a:xfrm>
          <a:custGeom>
            <a:avLst/>
            <a:gdLst>
              <a:gd name="connsiteX0" fmla="*/ 0 w 1099"/>
              <a:gd name="connsiteY0" fmla="*/ 0 h 4057"/>
              <a:gd name="connsiteX1" fmla="*/ 1099 w 1099"/>
              <a:gd name="connsiteY1" fmla="*/ 418 h 4057"/>
              <a:gd name="connsiteX2" fmla="*/ 1099 w 1099"/>
              <a:gd name="connsiteY2" fmla="*/ 3626 h 4057"/>
              <a:gd name="connsiteX3" fmla="*/ 0 w 1099"/>
              <a:gd name="connsiteY3" fmla="*/ 4057 h 4057"/>
              <a:gd name="connsiteX4" fmla="*/ 0 w 1099"/>
              <a:gd name="connsiteY4" fmla="*/ 0 h 4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 h="4057">
                <a:moveTo>
                  <a:pt x="0" y="0"/>
                </a:moveTo>
                <a:lnTo>
                  <a:pt x="1099" y="418"/>
                </a:lnTo>
                <a:lnTo>
                  <a:pt x="1099" y="3626"/>
                </a:lnTo>
                <a:lnTo>
                  <a:pt x="0" y="4057"/>
                </a:lnTo>
                <a:lnTo>
                  <a:pt x="0" y="0"/>
                </a:lnTo>
                <a:close/>
              </a:path>
            </a:pathLst>
          </a:custGeom>
          <a:gradFill>
            <a:gsLst>
              <a:gs pos="54000">
                <a:srgbClr val="17D594"/>
              </a:gs>
              <a:gs pos="0">
                <a:srgbClr val="17D594">
                  <a:lumMod val="60000"/>
                  <a:lumOff val="40000"/>
                </a:srgbClr>
              </a:gs>
              <a:gs pos="100000">
                <a:srgbClr val="17D594">
                  <a:lumMod val="60000"/>
                  <a:lumOff val="40000"/>
                </a:srgbClr>
              </a:gs>
            </a:gsLst>
            <a:lin ang="5400000" scaled="0"/>
          </a:gradFill>
          <a:ln>
            <a:gradFill>
              <a:gsLst>
                <a:gs pos="32000">
                  <a:srgbClr val="376FFF">
                    <a:lumMod val="5000"/>
                    <a:lumOff val="95000"/>
                  </a:srgbClr>
                </a:gs>
                <a:gs pos="0">
                  <a:srgbClr val="17D594">
                    <a:lumMod val="20000"/>
                    <a:lumOff val="80000"/>
                  </a:srgbClr>
                </a:gs>
                <a:gs pos="100000">
                  <a:srgbClr val="FFFFFF"/>
                </a:gs>
                <a:gs pos="71000">
                  <a:srgbClr val="17D594">
                    <a:lumMod val="20000"/>
                    <a:lumOff val="80000"/>
                  </a:srgbClr>
                </a:gs>
              </a:gsLst>
              <a:lin ang="16200000" scaled="1"/>
            </a:gradFill>
          </a:ln>
          <a:effectLst>
            <a:outerShdw blurRad="254000" dist="152400" dir="5400000" algn="t" rotWithShape="0">
              <a:srgbClr val="17D594">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05</a:t>
            </a:r>
            <a:endParaRPr lang="en-US" b="1">
              <a:solidFill>
                <a:srgbClr val="FFFFFF"/>
              </a:solidFill>
              <a:latin typeface="Microsoft YaHei" panose="020B0503020204020204" charset="-122"/>
              <a:sym typeface="Microsoft YaHei" panose="020B0503020204020204" charset="-122"/>
            </a:endParaRPr>
          </a:p>
        </p:txBody>
      </p:sp>
      <p:sp>
        <p:nvSpPr>
          <p:cNvPr id="4" name="任意多边形 32"/>
          <p:cNvSpPr/>
          <p:nvPr>
            <p:custDataLst>
              <p:tags r:id="rId9"/>
            </p:custDataLst>
          </p:nvPr>
        </p:nvSpPr>
        <p:spPr>
          <a:xfrm>
            <a:off x="6532880" y="1216026"/>
            <a:ext cx="1019413" cy="4004663"/>
          </a:xfrm>
          <a:custGeom>
            <a:avLst/>
            <a:gdLst>
              <a:gd name="connsiteX0" fmla="*/ 15 w 1243"/>
              <a:gd name="connsiteY0" fmla="*/ 0 h 4883"/>
              <a:gd name="connsiteX1" fmla="*/ 1232 w 1243"/>
              <a:gd name="connsiteY1" fmla="*/ 712 h 4883"/>
              <a:gd name="connsiteX2" fmla="*/ 1243 w 1243"/>
              <a:gd name="connsiteY2" fmla="*/ 4288 h 4883"/>
              <a:gd name="connsiteX3" fmla="*/ 0 w 1243"/>
              <a:gd name="connsiteY3" fmla="*/ 4883 h 4883"/>
              <a:gd name="connsiteX4" fmla="*/ 15 w 1243"/>
              <a:gd name="connsiteY4" fmla="*/ 0 h 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 h="4883">
                <a:moveTo>
                  <a:pt x="15" y="0"/>
                </a:moveTo>
                <a:lnTo>
                  <a:pt x="1232" y="712"/>
                </a:lnTo>
                <a:lnTo>
                  <a:pt x="1243" y="4288"/>
                </a:lnTo>
                <a:lnTo>
                  <a:pt x="0" y="4883"/>
                </a:lnTo>
                <a:lnTo>
                  <a:pt x="15"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06</a:t>
            </a:r>
            <a:endParaRPr lang="en-US" b="1">
              <a:solidFill>
                <a:srgbClr val="FFFFFF"/>
              </a:solidFill>
              <a:latin typeface="Microsoft YaHei" panose="020B0503020204020204" charset="-122"/>
              <a:sym typeface="Microsoft YaHei" panose="020B0503020204020204" charset="-122"/>
            </a:endParaRPr>
          </a:p>
        </p:txBody>
      </p:sp>
      <p:sp>
        <p:nvSpPr>
          <p:cNvPr id="21" name="任意多边形 15"/>
          <p:cNvSpPr/>
          <p:nvPr>
            <p:custDataLst>
              <p:tags r:id="rId10"/>
            </p:custDataLst>
          </p:nvPr>
        </p:nvSpPr>
        <p:spPr>
          <a:xfrm>
            <a:off x="703580" y="3608071"/>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rgbClr val="376FFF">
                    <a:alpha val="7000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fontScale="92500" lnSpcReduction="10000"/>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3" name="任意多边形 23"/>
          <p:cNvSpPr/>
          <p:nvPr>
            <p:custDataLst>
              <p:tags r:id="rId11"/>
            </p:custDataLst>
          </p:nvPr>
        </p:nvSpPr>
        <p:spPr>
          <a:xfrm>
            <a:off x="7600315" y="1923416"/>
            <a:ext cx="3696296" cy="655279"/>
          </a:xfrm>
          <a:custGeom>
            <a:avLst/>
            <a:gdLst>
              <a:gd name="connsiteX0" fmla="*/ 0 w 4507"/>
              <a:gd name="connsiteY0" fmla="*/ 799 h 799"/>
              <a:gd name="connsiteX1" fmla="*/ 820 w 4507"/>
              <a:gd name="connsiteY1" fmla="*/ 0 h 799"/>
              <a:gd name="connsiteX2" fmla="*/ 4507 w 4507"/>
              <a:gd name="connsiteY2" fmla="*/ 0 h 799"/>
            </a:gdLst>
            <a:ahLst/>
            <a:cxnLst>
              <a:cxn ang="0">
                <a:pos x="connsiteX0" y="connsiteY0"/>
              </a:cxn>
              <a:cxn ang="0">
                <a:pos x="connsiteX1" y="connsiteY1"/>
              </a:cxn>
              <a:cxn ang="0">
                <a:pos x="connsiteX2" y="connsiteY2"/>
              </a:cxn>
            </a:cxnLst>
            <a:rect l="l" t="t" r="r" b="b"/>
            <a:pathLst>
              <a:path w="4507" h="799">
                <a:moveTo>
                  <a:pt x="0" y="799"/>
                </a:moveTo>
                <a:lnTo>
                  <a:pt x="820" y="0"/>
                </a:lnTo>
                <a:lnTo>
                  <a:pt x="4507" y="0"/>
                </a:lnTo>
              </a:path>
            </a:pathLst>
          </a:custGeom>
          <a:noFill/>
          <a:ln>
            <a:gradFill>
              <a:gsLst>
                <a:gs pos="100000">
                  <a:srgbClr val="AFC6FF">
                    <a:alpha val="0"/>
                  </a:srgbClr>
                </a:gs>
                <a:gs pos="47000">
                  <a:srgbClr val="376FFF">
                    <a:alpha val="70000"/>
                  </a:srgbClr>
                </a:gs>
              </a:gsLst>
              <a:lin ang="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7" name="任意多边形 2"/>
          <p:cNvSpPr/>
          <p:nvPr>
            <p:custDataLst>
              <p:tags r:id="rId12"/>
            </p:custDataLst>
          </p:nvPr>
        </p:nvSpPr>
        <p:spPr>
          <a:xfrm>
            <a:off x="1464945" y="1524001"/>
            <a:ext cx="3606629" cy="619365"/>
          </a:xfrm>
          <a:custGeom>
            <a:avLst/>
            <a:gdLst>
              <a:gd name="connsiteX0" fmla="*/ 0 w 4050"/>
              <a:gd name="connsiteY0" fmla="*/ 0 h 798"/>
              <a:gd name="connsiteX1" fmla="*/ 3411 w 4050"/>
              <a:gd name="connsiteY1" fmla="*/ 0 h 798"/>
              <a:gd name="connsiteX2" fmla="*/ 4050 w 4050"/>
              <a:gd name="connsiteY2" fmla="*/ 798 h 798"/>
            </a:gdLst>
            <a:ahLst/>
            <a:cxnLst>
              <a:cxn ang="0">
                <a:pos x="connsiteX0" y="connsiteY0"/>
              </a:cxn>
              <a:cxn ang="0">
                <a:pos x="connsiteX1" y="connsiteY1"/>
              </a:cxn>
              <a:cxn ang="0">
                <a:pos x="connsiteX2" y="connsiteY2"/>
              </a:cxn>
            </a:cxnLst>
            <a:rect l="l" t="t" r="r" b="b"/>
            <a:pathLst>
              <a:path w="4050" h="798">
                <a:moveTo>
                  <a:pt x="0" y="0"/>
                </a:moveTo>
                <a:lnTo>
                  <a:pt x="3411" y="0"/>
                </a:lnTo>
                <a:lnTo>
                  <a:pt x="4050" y="798"/>
                </a:lnTo>
              </a:path>
            </a:pathLst>
          </a:custGeom>
          <a:noFill/>
          <a:ln>
            <a:gradFill>
              <a:gsLst>
                <a:gs pos="0">
                  <a:srgbClr val="17D594"/>
                </a:gs>
                <a:gs pos="100000">
                  <a:srgbClr val="17D594">
                    <a:alpha val="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8" name="椭圆 8"/>
          <p:cNvSpPr/>
          <p:nvPr>
            <p:custDataLst>
              <p:tags r:id="rId13"/>
            </p:custDataLst>
          </p:nvPr>
        </p:nvSpPr>
        <p:spPr>
          <a:xfrm>
            <a:off x="1586230" y="4084321"/>
            <a:ext cx="8939346" cy="1896945"/>
          </a:xfrm>
          <a:prstGeom prst="ellipse">
            <a:avLst/>
          </a:prstGeom>
          <a:noFill/>
          <a:ln w="19050">
            <a:gradFill>
              <a:gsLst>
                <a:gs pos="31000">
                  <a:srgbClr val="AFC6FF">
                    <a:alpha val="0"/>
                  </a:srgbClr>
                </a:gs>
                <a:gs pos="77000">
                  <a:srgbClr val="376FFF">
                    <a:lumMod val="60000"/>
                    <a:lumOff val="40000"/>
                    <a:alpha val="70000"/>
                  </a:srgbClr>
                </a:gs>
              </a:gsLst>
              <a:lin ang="540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
        <p:nvSpPr>
          <p:cNvPr id="29" name="椭圆 9"/>
          <p:cNvSpPr/>
          <p:nvPr>
            <p:custDataLst>
              <p:tags r:id="rId14"/>
            </p:custDataLst>
          </p:nvPr>
        </p:nvSpPr>
        <p:spPr>
          <a:xfrm>
            <a:off x="2583180" y="4084321"/>
            <a:ext cx="6945626" cy="1386009"/>
          </a:xfrm>
          <a:prstGeom prst="ellipse">
            <a:avLst/>
          </a:prstGeom>
          <a:noFill/>
          <a:ln w="53975">
            <a:gradFill>
              <a:gsLst>
                <a:gs pos="38000">
                  <a:srgbClr val="AFC6FF">
                    <a:alpha val="0"/>
                  </a:srgbClr>
                </a:gs>
                <a:gs pos="85000">
                  <a:srgbClr val="376FFF">
                    <a:alpha val="65000"/>
                  </a:srgbClr>
                </a:gs>
              </a:gsLst>
              <a:lin ang="546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Tree>
    <p:custDataLst>
      <p:tags r:id="rId1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1323340" y="1092200"/>
            <a:ext cx="4619625" cy="705485"/>
          </a:xfrm>
        </p:spPr>
        <p:txBody>
          <a:bodyPr>
            <a:noAutofit/>
          </a:bodyPr>
          <a:p>
            <a:pPr algn="l"/>
            <a:r>
              <a:rPr lang="en-US" sz="5400">
                <a:latin typeface="Times New Roman" panose="02020603050405020304" charset="0"/>
                <a:cs typeface="Times New Roman" panose="02020603050405020304" charset="0"/>
              </a:rPr>
              <a:t>THANK YOU</a:t>
            </a:r>
            <a:endParaRPr lang="en-US" sz="5400">
              <a:latin typeface="Times New Roman" panose="02020603050405020304" charset="0"/>
              <a:cs typeface="Times New Roman" panose="02020603050405020304" charset="0"/>
            </a:endParaRPr>
          </a:p>
        </p:txBody>
      </p:sp>
      <p:sp>
        <p:nvSpPr>
          <p:cNvPr id="29" name="任意多边形 28"/>
          <p:cNvSpPr/>
          <p:nvPr>
            <p:custDataLst>
              <p:tags r:id="rId2"/>
            </p:custDataLst>
          </p:nvPr>
        </p:nvSpPr>
        <p:spPr>
          <a:xfrm rot="10800000">
            <a:off x="6172841" y="3476284"/>
            <a:ext cx="5990266" cy="355082"/>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194" h="545">
                <a:moveTo>
                  <a:pt x="341" y="0"/>
                </a:moveTo>
                <a:cubicBezTo>
                  <a:pt x="350" y="0"/>
                  <a:pt x="357" y="10"/>
                  <a:pt x="357" y="21"/>
                </a:cubicBezTo>
                <a:lnTo>
                  <a:pt x="357" y="112"/>
                </a:lnTo>
                <a:lnTo>
                  <a:pt x="4265" y="112"/>
                </a:lnTo>
                <a:lnTo>
                  <a:pt x="4265" y="111"/>
                </a:lnTo>
                <a:lnTo>
                  <a:pt x="9194" y="111"/>
                </a:lnTo>
                <a:lnTo>
                  <a:pt x="9194" y="435"/>
                </a:lnTo>
                <a:lnTo>
                  <a:pt x="4265" y="435"/>
                </a:lnTo>
                <a:lnTo>
                  <a:pt x="4265" y="436"/>
                </a:lnTo>
                <a:lnTo>
                  <a:pt x="357" y="436"/>
                </a:lnTo>
                <a:lnTo>
                  <a:pt x="357" y="524"/>
                </a:lnTo>
                <a:cubicBezTo>
                  <a:pt x="357" y="527"/>
                  <a:pt x="356" y="531"/>
                  <a:pt x="355" y="534"/>
                </a:cubicBezTo>
                <a:cubicBezTo>
                  <a:pt x="350" y="545"/>
                  <a:pt x="341" y="548"/>
                  <a:pt x="333" y="542"/>
                </a:cubicBezTo>
                <a:lnTo>
                  <a:pt x="8" y="291"/>
                </a:lnTo>
                <a:cubicBezTo>
                  <a:pt x="6" y="289"/>
                  <a:pt x="4" y="286"/>
                  <a:pt x="2" y="283"/>
                </a:cubicBezTo>
                <a:cubicBezTo>
                  <a:pt x="-2" y="273"/>
                  <a:pt x="0" y="260"/>
                  <a:pt x="8" y="254"/>
                </a:cubicBezTo>
                <a:lnTo>
                  <a:pt x="333" y="3"/>
                </a:lnTo>
                <a:cubicBezTo>
                  <a:pt x="335" y="1"/>
                  <a:pt x="338" y="0"/>
                  <a:pt x="341" y="0"/>
                </a:cubicBezTo>
                <a:close/>
              </a:path>
            </a:pathLst>
          </a:custGeom>
          <a:solidFill>
            <a:schemeClr val="accent1"/>
          </a:solidFill>
          <a:ln>
            <a:noFill/>
          </a:ln>
        </p:spPr>
        <p:style>
          <a:lnRef idx="2">
            <a:srgbClr val="376FFF">
              <a:lumMod val="75000"/>
            </a:srgbClr>
          </a:lnRef>
          <a:fillRef idx="1">
            <a:srgbClr val="376FFF"/>
          </a:fillRef>
          <a:effectRef idx="0">
            <a:srgbClr val="FFF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7" name="任意多边形 3"/>
          <p:cNvSpPr/>
          <p:nvPr>
            <p:custDataLst>
              <p:tags r:id="rId3"/>
            </p:custDataLst>
          </p:nvPr>
        </p:nvSpPr>
        <p:spPr>
          <a:xfrm>
            <a:off x="4763" y="2929054"/>
            <a:ext cx="6198599" cy="211094"/>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763" h="324">
                <a:moveTo>
                  <a:pt x="0" y="0"/>
                </a:moveTo>
                <a:lnTo>
                  <a:pt x="8763" y="0"/>
                </a:lnTo>
                <a:lnTo>
                  <a:pt x="8763" y="324"/>
                </a:lnTo>
                <a:lnTo>
                  <a:pt x="0" y="324"/>
                </a:lnTo>
                <a:lnTo>
                  <a:pt x="0" y="0"/>
                </a:lnTo>
                <a:close/>
              </a:path>
            </a:pathLst>
          </a:custGeom>
          <a:gradFill>
            <a:gsLst>
              <a:gs pos="50000">
                <a:schemeClr val="accent3"/>
              </a:gs>
              <a:gs pos="0">
                <a:schemeClr val="accent3">
                  <a:lumMod val="25000"/>
                  <a:lumOff val="75000"/>
                </a:schemeClr>
              </a:gs>
              <a:gs pos="100000">
                <a:schemeClr val="accent3">
                  <a:lumMod val="85000"/>
                </a:schemeClr>
              </a:gs>
            </a:gsLst>
            <a:lin ang="5400000" scaled="1"/>
          </a:gradFill>
          <a:ln>
            <a:noFill/>
          </a:ln>
        </p:spPr>
        <p:style>
          <a:lnRef idx="2">
            <a:srgbClr val="376FFF">
              <a:lumMod val="75000"/>
            </a:srgbClr>
          </a:lnRef>
          <a:fillRef idx="1">
            <a:srgbClr val="376FFF"/>
          </a:fillRef>
          <a:effectRef idx="0">
            <a:srgbClr val="FFFFFF"/>
          </a:effectRef>
          <a:fontRef idx="minor">
            <a:srgbClr val="FFFFFF"/>
          </a:fontRef>
        </p:style>
        <p:txBody>
          <a:bodyPr wrap="square"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
        <p:nvSpPr>
          <p:cNvPr id="8" name="矩形 5"/>
          <p:cNvSpPr/>
          <p:nvPr>
            <p:custDataLst>
              <p:tags r:id="rId4"/>
            </p:custDataLst>
          </p:nvPr>
        </p:nvSpPr>
        <p:spPr>
          <a:xfrm>
            <a:off x="1418590" y="1946275"/>
            <a:ext cx="4754245" cy="662940"/>
          </a:xfrm>
          <a:prstGeom prst="rect">
            <a:avLst/>
          </a:prstGeom>
          <a:noFill/>
        </p:spPr>
        <p:txBody>
          <a:bodyPr wrap="square" lIns="0" tIns="0" rIns="0" bIns="0" rtlCol="0" anchor="t" anchorCtr="0">
            <a:noAutofit/>
          </a:bodyPr>
          <a:p>
            <a:pPr algn="l">
              <a:lnSpc>
                <a:spcPct val="130000"/>
              </a:lnSpc>
              <a:spcBef>
                <a:spcPct val="0"/>
              </a:spcBef>
              <a:spcAft>
                <a:spcPct val="0"/>
              </a:spcAft>
            </a:pPr>
            <a:r>
              <a:rPr lang="en-US" altLang="en-US" sz="1600" dirty="0">
                <a:solidFill>
                  <a:srgbClr val="000000">
                    <a:lumMod val="85000"/>
                    <a:lumOff val="15000"/>
                  </a:srgbClr>
                </a:solidFill>
                <a:sym typeface="Microsoft YaHei" panose="020B0503020204020204" charset="-122"/>
              </a:rPr>
              <a:t>I welcome feedback and opportunities to collaborate on data-driven projects.</a:t>
            </a:r>
            <a:endParaRPr lang="en-US" altLang="en-US" sz="1600" dirty="0">
              <a:solidFill>
                <a:srgbClr val="000000">
                  <a:lumMod val="85000"/>
                  <a:lumOff val="15000"/>
                </a:srgbClr>
              </a:solidFill>
              <a:sym typeface="Microsoft YaHei" panose="020B0503020204020204" charset="-122"/>
            </a:endParaRPr>
          </a:p>
        </p:txBody>
      </p:sp>
      <p:sp>
        <p:nvSpPr>
          <p:cNvPr id="10" name="矩形 8"/>
          <p:cNvSpPr/>
          <p:nvPr>
            <p:custDataLst>
              <p:tags r:id="rId5"/>
            </p:custDataLst>
          </p:nvPr>
        </p:nvSpPr>
        <p:spPr>
          <a:xfrm>
            <a:off x="6172835" y="4013835"/>
            <a:ext cx="1872615" cy="688340"/>
          </a:xfrm>
          <a:prstGeom prst="rect">
            <a:avLst/>
          </a:prstGeom>
          <a:noFill/>
        </p:spPr>
        <p:txBody>
          <a:bodyPr wrap="square" lIns="0" tIns="0" rIns="0" bIns="0" rtlCol="0" anchor="t" anchorCtr="0">
            <a:noAutofit/>
          </a:bodyPr>
          <a:p>
            <a:pPr algn="l">
              <a:lnSpc>
                <a:spcPct val="100000"/>
              </a:lnSpc>
              <a:spcBef>
                <a:spcPct val="0"/>
              </a:spcBef>
              <a:spcAft>
                <a:spcPct val="0"/>
              </a:spcAft>
            </a:pPr>
            <a:r>
              <a:rPr lang="en-US" altLang="en-US" sz="20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Busayo Omoniyi</a:t>
            </a:r>
            <a:endParaRPr lang="en-US" altLang="en-US" sz="20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a:p>
            <a:pPr algn="l">
              <a:lnSpc>
                <a:spcPct val="100000"/>
              </a:lnSpc>
              <a:spcBef>
                <a:spcPct val="0"/>
              </a:spcBef>
              <a:spcAft>
                <a:spcPct val="0"/>
              </a:spcAft>
            </a:pPr>
            <a:r>
              <a:rPr lang="en-US" altLang="en-US" sz="2000" b="1"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Data Analyst</a:t>
            </a:r>
            <a:endParaRPr lang="en-US" altLang="en-US" sz="2000" b="1"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18" name="矩形 8"/>
          <p:cNvSpPr/>
          <p:nvPr>
            <p:custDataLst>
              <p:tags r:id="rId6"/>
            </p:custDataLst>
          </p:nvPr>
        </p:nvSpPr>
        <p:spPr>
          <a:xfrm>
            <a:off x="6172835" y="4939665"/>
            <a:ext cx="3794125" cy="968375"/>
          </a:xfrm>
          <a:prstGeom prst="rect">
            <a:avLst/>
          </a:prstGeom>
          <a:noFill/>
        </p:spPr>
        <p:txBody>
          <a:bodyPr wrap="square" lIns="0" tIns="0" rIns="0" bIns="0" rtlCol="0" anchor="t" anchorCtr="0">
            <a:noAutofit/>
          </a:bodyPr>
          <a:p>
            <a:pPr algn="l">
              <a:lnSpc>
                <a:spcPct val="100000"/>
              </a:lnSpc>
              <a:spcBef>
                <a:spcPts val="0"/>
              </a:spcBef>
              <a:spcAft>
                <a:spcPts val="0"/>
              </a:spcAft>
            </a:pPr>
            <a:r>
              <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Email: hi.busayoniyi@gmail.com</a:t>
            </a:r>
            <a:endPar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a:p>
            <a:pPr algn="l">
              <a:lnSpc>
                <a:spcPct val="100000"/>
              </a:lnSpc>
              <a:spcBef>
                <a:spcPts val="0"/>
              </a:spcBef>
              <a:spcAft>
                <a:spcPts val="0"/>
              </a:spcAft>
            </a:pPr>
            <a:r>
              <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LinkedIn: linkedin.com/in/busayo-omoniyi</a:t>
            </a:r>
            <a:endPar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a:p>
            <a:pPr algn="l">
              <a:lnSpc>
                <a:spcPct val="100000"/>
              </a:lnSpc>
              <a:spcBef>
                <a:spcPts val="0"/>
              </a:spcBef>
              <a:spcAft>
                <a:spcPts val="0"/>
              </a:spcAft>
            </a:pPr>
            <a:r>
              <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GitHub: github.com/Busayo-Omoniyi</a:t>
            </a:r>
            <a:endPar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a:p>
            <a:pPr algn="l">
              <a:lnSpc>
                <a:spcPct val="100000"/>
              </a:lnSpc>
              <a:spcBef>
                <a:spcPts val="0"/>
              </a:spcBef>
              <a:spcAft>
                <a:spcPts val="0"/>
              </a:spcAft>
            </a:pPr>
            <a:r>
              <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Behance: behance.net/busayo-omoniyi</a:t>
            </a:r>
            <a:endParaRPr lang="en-US" altLang="en-US" sz="1600" dirty="0">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Tree>
    <p:custDataLst>
      <p:tags r:id="rId7"/>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65000">
              <a:srgbClr val="B9C1CA"/>
            </a:gs>
            <a:gs pos="83000">
              <a:srgbClr val="9EB5D2"/>
            </a:gs>
            <a:gs pos="97000">
              <a:srgbClr val="91ACE0"/>
            </a:gs>
          </a:gsLst>
          <a:lin ang="5400000" scaled="0"/>
        </a:gradFill>
        <a:effectLst/>
      </p:bgPr>
    </p:bg>
    <p:spTree>
      <p:nvGrpSpPr>
        <p:cNvPr id="1" name=""/>
        <p:cNvGrpSpPr/>
        <p:nvPr/>
      </p:nvGrpSpPr>
      <p:grpSpPr/>
      <p:sp>
        <p:nvSpPr>
          <p:cNvPr id="4" name="Title 3"/>
          <p:cNvSpPr>
            <a:spLocks noGrp="1"/>
          </p:cNvSpPr>
          <p:nvPr>
            <p:ph type="title"/>
            <p:custDataLst>
              <p:tags r:id="rId1"/>
            </p:custDataLst>
          </p:nvPr>
        </p:nvSpPr>
        <p:spPr>
          <a:xfrm>
            <a:off x="608400" y="536010"/>
            <a:ext cx="10969200" cy="705600"/>
          </a:xfrm>
        </p:spPr>
        <p:txBody>
          <a:bodyPr/>
          <a:p>
            <a:r>
              <a:rPr lang="en-US" altLang="en-US" sz="3800" b="1">
                <a:latin typeface="Times New Roman" panose="02020603050405020304" charset="0"/>
                <a:cs typeface="Times New Roman" panose="02020603050405020304" charset="0"/>
              </a:rPr>
              <a:t>Appendix:</a:t>
            </a:r>
            <a:r>
              <a:rPr lang="en-US" altLang="en-US" sz="3800">
                <a:latin typeface="Times New Roman" panose="02020603050405020304" charset="0"/>
                <a:cs typeface="Times New Roman" panose="02020603050405020304" charset="0"/>
              </a:rPr>
              <a:t> Sample SQL Queries</a:t>
            </a:r>
            <a:endParaRPr lang="en-US" altLang="en-US" sz="3800">
              <a:latin typeface="Times New Roman" panose="02020603050405020304" charset="0"/>
              <a:cs typeface="Times New Roman" panose="02020603050405020304" charset="0"/>
            </a:endParaRPr>
          </a:p>
        </p:txBody>
      </p:sp>
      <p:sp>
        <p:nvSpPr>
          <p:cNvPr id="5" name="Text Placeholder 4"/>
          <p:cNvSpPr>
            <a:spLocks noGrp="1"/>
          </p:cNvSpPr>
          <p:nvPr>
            <p:ph type="body" idx="1"/>
            <p:custDataLst>
              <p:tags r:id="rId2"/>
            </p:custDataLst>
          </p:nvPr>
        </p:nvSpPr>
        <p:spPr>
          <a:xfrm>
            <a:off x="608400" y="2104205"/>
            <a:ext cx="5342400" cy="381600"/>
          </a:xfrm>
        </p:spPr>
        <p:txBody>
          <a:bodyPr/>
          <a:p>
            <a:r>
              <a:rPr lang="en-US"/>
              <a:t>Sales by Segment</a:t>
            </a:r>
            <a:endParaRPr lang="en-US"/>
          </a:p>
        </p:txBody>
      </p:sp>
      <p:pic>
        <p:nvPicPr>
          <p:cNvPr id="9" name="Content Placeholder 8" descr="sql 1"/>
          <p:cNvPicPr>
            <a:picLocks noChangeAspect="1"/>
          </p:cNvPicPr>
          <p:nvPr>
            <p:ph sz="half" idx="2"/>
            <p:custDataLst>
              <p:tags r:id="rId3"/>
            </p:custDataLst>
          </p:nvPr>
        </p:nvPicPr>
        <p:blipFill>
          <a:blip r:embed="rId4"/>
          <a:stretch>
            <a:fillRect/>
          </a:stretch>
        </p:blipFill>
        <p:spPr>
          <a:xfrm>
            <a:off x="608330" y="2726055"/>
            <a:ext cx="5342255" cy="3169285"/>
          </a:xfrm>
          <a:prstGeom prst="rect">
            <a:avLst/>
          </a:prstGeom>
        </p:spPr>
      </p:pic>
      <p:sp>
        <p:nvSpPr>
          <p:cNvPr id="7" name="Text Placeholder 6"/>
          <p:cNvSpPr>
            <a:spLocks noGrp="1"/>
          </p:cNvSpPr>
          <p:nvPr>
            <p:ph type="body" sz="quarter" idx="3"/>
            <p:custDataLst>
              <p:tags r:id="rId5"/>
            </p:custDataLst>
          </p:nvPr>
        </p:nvSpPr>
        <p:spPr>
          <a:xfrm>
            <a:off x="6235750" y="2104354"/>
            <a:ext cx="5342400" cy="381600"/>
          </a:xfrm>
        </p:spPr>
        <p:txBody>
          <a:bodyPr/>
          <a:p>
            <a:r>
              <a:rPr lang="en-US"/>
              <a:t>Discount vs Profit Analysis</a:t>
            </a:r>
            <a:endParaRPr lang="en-US"/>
          </a:p>
        </p:txBody>
      </p:sp>
      <p:pic>
        <p:nvPicPr>
          <p:cNvPr id="11" name="Content Placeholder 10" descr="sql 2"/>
          <p:cNvPicPr>
            <a:picLocks noChangeAspect="1"/>
          </p:cNvPicPr>
          <p:nvPr>
            <p:ph sz="quarter" idx="4"/>
            <p:custDataLst>
              <p:tags r:id="rId6"/>
            </p:custDataLst>
          </p:nvPr>
        </p:nvPicPr>
        <p:blipFill>
          <a:blip r:embed="rId7"/>
          <a:stretch>
            <a:fillRect/>
          </a:stretch>
        </p:blipFill>
        <p:spPr>
          <a:xfrm>
            <a:off x="6235700" y="2726055"/>
            <a:ext cx="5342255" cy="3218815"/>
          </a:xfrm>
          <a:prstGeom prst="rect">
            <a:avLst/>
          </a:prstGeom>
        </p:spPr>
      </p:pic>
      <p:sp>
        <p:nvSpPr>
          <p:cNvPr id="12" name="Text Placeholder 4"/>
          <p:cNvSpPr>
            <a:spLocks noGrp="1"/>
          </p:cNvSpPr>
          <p:nvPr>
            <p:custDataLst>
              <p:tags r:id="rId8"/>
            </p:custDataLst>
          </p:nvPr>
        </p:nvSpPr>
        <p:spPr>
          <a:xfrm>
            <a:off x="628650" y="1241425"/>
            <a:ext cx="10841990" cy="508000"/>
          </a:xfrm>
          <a:prstGeom prst="rect">
            <a:avLst/>
          </a:prstGeom>
        </p:spPr>
        <p:txBody>
          <a:bodyPr vert="horz" lIns="101600" tIns="38100" rIns="76200" bIns="38100" rtlCol="0" anchor="t" anchorCtr="0">
            <a:noAutofit/>
          </a:bodyPr>
          <a:lstStyle>
            <a:lvl1pPr marL="0" indent="0" algn="l" defTabSz="914400" rtl="0" eaLnBrk="1" fontAlgn="auto" latinLnBrk="0" hangingPunct="1">
              <a:lnSpc>
                <a:spcPct val="100000"/>
              </a:lnSpc>
              <a:spcBef>
                <a:spcPts val="0"/>
              </a:spcBef>
              <a:spcAft>
                <a:spcPts val="1000"/>
              </a:spcAft>
              <a:buFont typeface="Arial" panose="020B0604020202020204" pitchFamily="34" charset="0"/>
              <a:buNone/>
              <a:defRPr sz="2000" b="1" u="none" strike="noStrike" kern="1200" cap="none" spc="200" normalizeH="0" baseline="0">
                <a:solidFill>
                  <a:schemeClr val="tx1">
                    <a:lumMod val="75000"/>
                    <a:lumOff val="25000"/>
                  </a:schemeClr>
                </a:solidFill>
                <a:uFillTx/>
                <a:latin typeface="+mn-lt"/>
                <a:ea typeface="+mn-ea"/>
                <a:cs typeface="+mn-cs"/>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b="1" u="none" strike="noStrike" kern="1200" cap="none" spc="150" normalizeH="0" baseline="0">
                <a:solidFill>
                  <a:schemeClr val="tx1">
                    <a:lumMod val="65000"/>
                    <a:lumOff val="35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b="1" u="none" strike="noStrike" kern="1200" cap="none" spc="150" normalizeH="0" baseline="0">
                <a:solidFill>
                  <a:schemeClr val="tx1">
                    <a:lumMod val="65000"/>
                    <a:lumOff val="35000"/>
                  </a:schemeClr>
                </a:solidFill>
                <a:uFillTx/>
                <a:latin typeface="+mn-lt"/>
                <a:ea typeface="+mn-ea"/>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b="1" u="none" strike="noStrike" kern="1200" cap="none" spc="150" normalizeH="0" baseline="0">
                <a:solidFill>
                  <a:schemeClr val="tx1">
                    <a:lumMod val="65000"/>
                    <a:lumOff val="35000"/>
                  </a:schemeClr>
                </a:solidFill>
                <a:uFillTx/>
                <a:latin typeface="+mn-lt"/>
                <a:ea typeface="+mn-ea"/>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b="1" u="none" strike="noStrike" kern="1200" cap="none" spc="150" normalizeH="0" baseline="0">
                <a:solidFill>
                  <a:schemeClr val="tx1">
                    <a:lumMod val="65000"/>
                    <a:lumOff val="35000"/>
                  </a:schemeClr>
                </a:solidFill>
                <a:uFillTx/>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en-US" sz="1400"/>
              <a:t>The following queries were used to answer key business questions and prepare insights for visualization in Power BI.</a:t>
            </a:r>
            <a:endParaRPr lang="en-US" altLang="en-US" sz="1400"/>
          </a:p>
        </p:txBody>
      </p:sp>
    </p:spTree>
    <p:custDataLst>
      <p:tags r:id="rId9"/>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60000">
              <a:srgbClr val="B9C1CA"/>
            </a:gs>
            <a:gs pos="83000">
              <a:srgbClr val="9EB5D2"/>
            </a:gs>
            <a:gs pos="100000">
              <a:srgbClr val="91ACE0"/>
            </a:gs>
          </a:gsLst>
          <a:lin ang="5400000" scaled="0"/>
        </a:gradFill>
        <a:effectLst/>
      </p:bgPr>
    </p:bg>
    <p:spTree>
      <p:nvGrpSpPr>
        <p:cNvPr id="1" name=""/>
        <p:cNvGrpSpPr/>
        <p:nvPr/>
      </p:nvGrpSpPr>
      <p:grpSpPr/>
      <p:sp>
        <p:nvSpPr>
          <p:cNvPr id="5" name="Text Placeholder 4"/>
          <p:cNvSpPr>
            <a:spLocks noGrp="1"/>
          </p:cNvSpPr>
          <p:nvPr>
            <p:ph type="body" idx="1"/>
            <p:custDataLst>
              <p:tags r:id="rId1"/>
            </p:custDataLst>
          </p:nvPr>
        </p:nvSpPr>
        <p:spPr>
          <a:xfrm>
            <a:off x="608400" y="1441265"/>
            <a:ext cx="5342400" cy="381600"/>
          </a:xfrm>
        </p:spPr>
        <p:txBody>
          <a:bodyPr/>
          <a:p>
            <a:r>
              <a:rPr lang="en-US"/>
              <a:t>Monthly sales &amp; profit Trend</a:t>
            </a:r>
            <a:endParaRPr lang="en-US"/>
          </a:p>
        </p:txBody>
      </p:sp>
      <p:sp>
        <p:nvSpPr>
          <p:cNvPr id="7" name="Text Placeholder 6"/>
          <p:cNvSpPr>
            <a:spLocks noGrp="1"/>
          </p:cNvSpPr>
          <p:nvPr>
            <p:ph type="body" sz="quarter" idx="3"/>
            <p:custDataLst>
              <p:tags r:id="rId2"/>
            </p:custDataLst>
          </p:nvPr>
        </p:nvSpPr>
        <p:spPr>
          <a:xfrm>
            <a:off x="6235750" y="1441414"/>
            <a:ext cx="5342400" cy="381600"/>
          </a:xfrm>
        </p:spPr>
        <p:txBody>
          <a:bodyPr/>
          <a:p>
            <a:r>
              <a:rPr lang="en-US"/>
              <a:t>Top Customers</a:t>
            </a:r>
            <a:endParaRPr lang="en-US"/>
          </a:p>
        </p:txBody>
      </p:sp>
      <p:pic>
        <p:nvPicPr>
          <p:cNvPr id="8" name="Content Placeholder 7" descr="sql 3"/>
          <p:cNvPicPr>
            <a:picLocks noChangeAspect="1"/>
          </p:cNvPicPr>
          <p:nvPr>
            <p:ph sz="half" idx="2"/>
            <p:custDataLst>
              <p:tags r:id="rId3"/>
            </p:custDataLst>
          </p:nvPr>
        </p:nvPicPr>
        <p:blipFill>
          <a:blip r:embed="rId4"/>
          <a:stretch>
            <a:fillRect/>
          </a:stretch>
        </p:blipFill>
        <p:spPr>
          <a:xfrm>
            <a:off x="608330" y="2032000"/>
            <a:ext cx="5342255" cy="3402330"/>
          </a:xfrm>
          <a:prstGeom prst="rect">
            <a:avLst/>
          </a:prstGeom>
        </p:spPr>
      </p:pic>
      <p:pic>
        <p:nvPicPr>
          <p:cNvPr id="10" name="Content Placeholder 9" descr="sql 4"/>
          <p:cNvPicPr>
            <a:picLocks noChangeAspect="1"/>
          </p:cNvPicPr>
          <p:nvPr>
            <p:ph sz="quarter" idx="4"/>
            <p:custDataLst>
              <p:tags r:id="rId5"/>
            </p:custDataLst>
          </p:nvPr>
        </p:nvPicPr>
        <p:blipFill>
          <a:blip r:embed="rId6"/>
          <a:stretch>
            <a:fillRect/>
          </a:stretch>
        </p:blipFill>
        <p:spPr>
          <a:xfrm>
            <a:off x="6235700" y="2032000"/>
            <a:ext cx="5342255" cy="3384550"/>
          </a:xfrm>
          <a:prstGeom prst="rect">
            <a:avLst/>
          </a:prstGeom>
        </p:spPr>
      </p:pic>
    </p:spTree>
    <p:custDataLst>
      <p:tags r:id="rId7"/>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08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321_5*n_h_i*1_1_1"/>
  <p:tag name="KSO_WM_TEMPLATE_CATEGORY" val="diagram"/>
  <p:tag name="KSO_WM_TEMPLATE_INDEX" val="20238321"/>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94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1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5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6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6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2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UNIT_VALUE" val="80"/>
  <p:tag name="KSO_WM_DIAGRAM_GROUP_CODE" val="n1-1"/>
  <p:tag name="KSO_WM_UNIT_TYPE" val="n_h_h_f"/>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4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3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1"/>
  <p:tag name="KSO_WM_UNIT_ID" val="diagram20238321_5*n_h_h_i*1_2_1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2_1"/>
  <p:tag name="KSO_WM_UNIT_ID" val="diagram20238321_5*n_h_h_i*1_2_2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5_1"/>
  <p:tag name="KSO_WM_UNIT_ID" val="diagram20238321_5*n_h_h_i*1_2_5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5"/>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4_1"/>
  <p:tag name="KSO_WM_UNIT_ID" val="diagram20238321_5*n_h_h_i*1_2_4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6_1"/>
  <p:tag name="KSO_WM_UNIT_ID" val="diagram20238321_5*n_h_h_i*1_2_6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6"/>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3_1"/>
  <p:tag name="KSO_WM_UNIT_ID" val="diagram20238321_5*n_h_h_i*1_2_3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5.xml><?xml version="1.0" encoding="utf-8"?>
<p:tagLst xmlns:p="http://schemas.openxmlformats.org/presentationml/2006/main">
  <p:tag name="KSO_WM_UNIT_COMPATIBLE" val="0"/>
  <p:tag name="KSO_WM_UNIT_DIAGRAM_ISREFERUNIT" val="0"/>
  <p:tag name="KSO_WM_TEMPLATE_INDEX" val="20238321"/>
  <p:tag name="KSO_WM_TAG_VERSION" val="3.0"/>
  <p:tag name="KSO_WM_DIAGRAM_VERSION" val="3"/>
  <p:tag name="KSO_WM_DIAGRAM_COLOR_TEXT_CAN_REMOVE" val="n"/>
  <p:tag name="KSO_WM_DIAGRAM_MIN_ITEMCNT" val="2"/>
  <p:tag name="KSO_WM_BEAUTIFY_FLAG" val="#wm#"/>
  <p:tag name="KSO_WM_UNIT_HIGHLIGHT" val="0"/>
  <p:tag name="KSO_WM_UNIT_DIAGRAM_ISNUMVISUAL" val="0"/>
  <p:tag name="KSO_WM_UNIT_ID" val="diagram20238321_5*n_h_a*1_1_1"/>
  <p:tag name="KSO_WM_TEMPLATE_CATEGORY" val="diagram"/>
  <p:tag name="KSO_WM_UNIT_LAYERLEVEL" val="1_1_1"/>
  <p:tag name="KSO_WM_UNIT_ISCONTENTSTITLE" val="0"/>
  <p:tag name="KSO_WM_UNIT_ISNUMDGMTITLE" val="0"/>
  <p:tag name="KSO_WM_UNIT_NOCLEAR" val="0"/>
  <p:tag name="KSO_WM_DIAGRAM_GROUP_CODE" val="n1-1"/>
  <p:tag name="KSO_WM_UNIT_TYPE" val="n_h_a"/>
  <p:tag name="KSO_WM_UNIT_INDEX" val="1_1_1"/>
  <p:tag name="KSO_WM_DIAGRAM_COLOR_TRICK" val="1"/>
  <p:tag name="KSO_WM_DIAGRAM_MAX_ITEMCNT" val="6"/>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VALUE" val="8"/>
  <p:tag name="KSO_WM_UNIT_PRESET_TEXT" val="Your title here"/>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6.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345,3322019,3320039]}"/>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51.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2.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3.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4.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5.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6.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5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6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62.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22444]}"/>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BEAUTIFY_FLAG" val="#wm#"/>
  <p:tag name="KSO_WM_TEMPLATE_CATEGORY" val="custom"/>
  <p:tag name="KSO_WM_TEMPLATE_INDEX" val="2020508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7.xml><?xml version="1.0" encoding="utf-8"?>
<p:tagLst xmlns:p="http://schemas.openxmlformats.org/presentationml/2006/main">
  <p:tag name="KSO_WM_BEAUTIFY_FLAG" val="#wm#"/>
  <p:tag name="KSO_WM_TEMPLATE_CATEGORY" val="custom"/>
  <p:tag name="KSO_WM_TEMPLATE_INDEX" val="2020508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0.xml><?xml version="1.0" encoding="utf-8"?>
<p:tagLst xmlns:p="http://schemas.openxmlformats.org/presentationml/2006/main">
  <p:tag name="KSO_WM_BEAUTIFY_FLAG" val="#wm#"/>
  <p:tag name="KSO_WM_TEMPLATE_CATEGORY" val="custom"/>
  <p:tag name="KSO_WM_TEMPLATE_INDEX" val="20205081"/>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KSO_WM_BEAUTIFY_FLAG" val="#wm#"/>
  <p:tag name="KSO_WM_TEMPLATE_CATEGORY" val="custom"/>
  <p:tag name="KSO_WM_TEMPLATE_INDEX" val="2020508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5.xml><?xml version="1.0" encoding="utf-8"?>
<p:tagLst xmlns:p="http://schemas.openxmlformats.org/presentationml/2006/main">
  <p:tag name="KSO_WM_BEAUTIFY_FLAG" val="#wm#"/>
  <p:tag name="KSO_WM_TEMPLATE_CATEGORY" val="custom"/>
  <p:tag name="KSO_WM_TEMPLATE_INDEX" val="2020508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8.xml><?xml version="1.0" encoding="utf-8"?>
<p:tagLst xmlns:p="http://schemas.openxmlformats.org/presentationml/2006/main">
  <p:tag name="KSO_WM_BEAUTIFY_FLAG" val="#wm#"/>
  <p:tag name="KSO_WM_TEMPLATE_CATEGORY" val="custom"/>
  <p:tag name="KSO_WM_TEMPLATE_INDEX" val="20205081"/>
</p:tagLst>
</file>

<file path=ppt/tags/tag179.xml><?xml version="1.0" encoding="utf-8"?>
<p:tagLst xmlns:p="http://schemas.openxmlformats.org/presentationml/2006/main">
  <p:tag name="KSO_WM_BEAUTIFY_FLAG" val="#wm#"/>
  <p:tag name="KSO_WM_TEMPLATE_CATEGORY" val="custom"/>
  <p:tag name="KSO_WM_TEMPLATE_INDEX" val="20205081"/>
</p:tagLst>
</file>

<file path=ppt/tags/tag180.xml><?xml version="1.0" encoding="utf-8"?>
<p:tagLst xmlns:p="http://schemas.openxmlformats.org/presentationml/2006/main">
  <p:tag name="KSO_WM_BEAUTIFY_FLAG" val="#wm#"/>
  <p:tag name="KSO_WM_TEMPLATE_CATEGORY" val="custom"/>
  <p:tag name="KSO_WM_TEMPLATE_INDEX" val="2020508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3.xml><?xml version="1.0" encoding="utf-8"?>
<p:tagLst xmlns:p="http://schemas.openxmlformats.org/presentationml/2006/main">
  <p:tag name="KSO_WM_BEAUTIFY_FLAG" val="#wm#"/>
  <p:tag name="KSO_WM_TEMPLATE_CATEGORY" val="custom"/>
  <p:tag name="KSO_WM_TEMPLATE_INDEX" val="2020508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6.xml><?xml version="1.0" encoding="utf-8"?>
<p:tagLst xmlns:p="http://schemas.openxmlformats.org/presentationml/2006/main">
  <p:tag name="KSO_WM_BEAUTIFY_FLAG" val="#wm#"/>
  <p:tag name="KSO_WM_TEMPLATE_CATEGORY" val="custom"/>
  <p:tag name="KSO_WM_TEMPLATE_INDEX" val="20205081"/>
</p:tagLst>
</file>

<file path=ppt/tags/tag187.xml><?xml version="1.0" encoding="utf-8"?>
<p:tagLst xmlns:p="http://schemas.openxmlformats.org/presentationml/2006/main">
  <p:tag name="KSO_WM_BEAUTIFY_FLAG" val="#wm#"/>
  <p:tag name="KSO_WM_TEMPLATE_CATEGORY" val="custom"/>
  <p:tag name="KSO_WM_TEMPLATE_INDEX" val="20205081"/>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KSO_WM_BEAUTIFY_FLAG" val="#wm#"/>
  <p:tag name="KSO_WM_TEMPLATE_CATEGORY" val="custom"/>
  <p:tag name="KSO_WM_TEMPLATE_INDEX" val="20205081"/>
</p:tagLst>
</file>

<file path=ppt/tags/tag1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177_2*l_h_a*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8177_2*l_h_i*1_1_2"/>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177_2*l_h_a*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177_2*l_h_f*1_2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177_2*l_h_f*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177_2*l_h_f*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177_2*l_h_a*1_2_1"/>
  <p:tag name="KSO_WM_TEMPLATE_CATEGORY" val="diagram"/>
  <p:tag name="KSO_WM_TEMPLATE_INDEX" val="20238177"/>
  <p:tag name="KSO_WM_UNIT_LAYERLEVEL" val="1_1_1"/>
  <p:tag name="KSO_WM_TAG_VERSION" val="3.0"/>
  <p:tag name="KSO_WM_BEAUTIFY_FLAG" val="#wm#"/>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1"/>
  <p:tag name="KSO_WM_UNIT_ID" val="diagram20238177_2*l_h_i*2_1_1"/>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01"/>
  <p:tag name="KSO_WM_UNIT_FILL_TYPE" val="3"/>
  <p:tag name="KSO_WM_DIAGRAM_USE_COLOR_VALUE" val="{&quot;color_scheme&quot;:1,&quot;color_type&quot;:1,&quot;theme_color_indexes&quot;:[]}"/>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2"/>
  <p:tag name="KSO_WM_UNIT_ID" val="diagram20238177_2*l_h_i*2_2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8,&quot;pos&quot;:0.5400000214576721,&quot;transparency&quot;:0},{&quot;brightness&quot;:0.4000000059604645,&quot;colorType&quot;:1,&quot;foreColorIndex&quot;:8,&quot;pos&quot;:0,&quot;transparency&quot;:0},{&quot;brightness&quot;:0.4000000059604645,&quot;colorType&quot;:1,&quot;foreColorIndex&quot;:8,&quot;pos&quot;:1,&quot;transparency&quot;:0}],&quot;type&quot;:3},&quot;glow&quot;:{&quot;colorType&quot;:0},&quot;line&quot;:{&quot;gradient&quot;:[{&quot;brightness&quot;:0.949999988079071,&quot;colorType&quot;:1,&quot;foreColorIndex&quot;:5,&quot;pos&quot;:0.3199999928474426,&quot;transparency&quot;:0},{&quot;brightness&quot;:0.800000011920929,&quot;colorType&quot;:1,&quot;foreColorIndex&quot;:8,&quot;pos&quot;:0,&quot;transparency&quot;:0},{&quot;brightness&quot;:0,&quot;colorType&quot;:1,&quot;foreColorIndex&quot;:14,&quot;pos&quot;:1,&quot;transparency&quot;:0},{&quot;brightness&quot;:0.800000011920929,&quot;colorType&quot;:1,&quot;foreColorIndex&quot;:8,&quot;pos&quot;:0.7099999785423279,&quot;transparency&quot;:0}],&quot;type&quot;:2},&quot;shadow&quot;:{&quot;brightness&quot;:0,&quot;colorType&quot;:1,&quot;foreColorIndex&quot;:8,&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02"/>
  <p:tag name="KSO_WM_UNIT_FILL_TYPE" val="3"/>
  <p:tag name="KSO_WM_DIAGRAM_USE_COLOR_VALUE" val="{&quot;color_scheme&quot;:1,&quot;color_type&quot;:1,&quot;theme_color_indexes&quot;:[]}"/>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2"/>
  <p:tag name="KSO_WM_UNIT_ID" val="diagram20238177_2*l_h_i*2_3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03"/>
  <p:tag name="KSO_WM_UNIT_FILL_TYPE" val="3"/>
  <p:tag name="KSO_WM_DIAGRAM_USE_COLOR_VALUE" val="{&quot;color_scheme&quot;:1,&quot;color_type&quot;:1,&quot;theme_color_indexes&quot;:[]}"/>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2"/>
  <p:tag name="KSO_WM_UNIT_ID" val="diagram20238177_2*l_h_i*2_1_2"/>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1"/>
  <p:tag name="KSO_WM_UNIT_ID" val="diagram20238177_2*l_h_i*2_3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1"/>
  <p:tag name="KSO_WM_UNIT_ID" val="diagram20238177_2*l_h_i*2_2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1,&quot;foreColorIndex&quot;:8,&quot;pos&quot;:0,&quot;transparency&quot;:0},{&quot;brightness&quot;:0,&quot;colorType&quot;:1,&quot;foreColorIndex&quot;:8,&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2"/>
  <p:tag name="KSO_WM_TEMPLATE_CATEGORY" val="diagram"/>
  <p:tag name="KSO_WM_TEMPLATE_INDEX" val="20238177"/>
  <p:tag name="KSO_WM_UNIT_LAYERLEVEL" val="1_1"/>
  <p:tag name="KSO_WM_TAG_VERSION" val="3.0"/>
  <p:tag name="KSO_WM_UNIT_TYPE" val="l_i"/>
  <p:tag name="KSO_WM_UNIT_INDEX" val="2_2"/>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1"/>
  <p:tag name="KSO_WM_TEMPLATE_CATEGORY" val="diagram"/>
  <p:tag name="KSO_WM_TEMPLATE_INDEX" val="20238177"/>
  <p:tag name="KSO_WM_UNIT_LAYERLEVEL" val="1_1"/>
  <p:tag name="KSO_WM_TAG_VERSION" val="3.0"/>
  <p:tag name="KSO_WM_UNIT_TYPE" val="l_i"/>
  <p:tag name="KSO_WM_UNIT_INDEX" val="2_1"/>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205.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162]}"/>
</p:tagLst>
</file>

<file path=ppt/tags/tag2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177_2*l_h_a*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177_2*l_h_a*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177_2*l_h_f*1_2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177_2*l_h_f*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177_2*l_h_f*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177_2*l_h_a*1_2_1"/>
  <p:tag name="KSO_WM_TEMPLATE_CATEGORY" val="diagram"/>
  <p:tag name="KSO_WM_TEMPLATE_INDEX" val="20238177"/>
  <p:tag name="KSO_WM_UNIT_LAYERLEVEL" val="1_1_1"/>
  <p:tag name="KSO_WM_TAG_VERSION" val="3.0"/>
  <p:tag name="KSO_WM_BEAUTIFY_FLAG" val="#wm#"/>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1"/>
  <p:tag name="KSO_WM_UNIT_ID" val="diagram20238177_2*l_h_i*2_1_1"/>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01"/>
  <p:tag name="KSO_WM_UNIT_FILL_TYPE" val="3"/>
  <p:tag name="KSO_WM_DIAGRAM_USE_COLOR_VALUE" val="{&quot;color_scheme&quot;:1,&quot;color_type&quot;:1,&quot;theme_color_indexes&quot;:[]}"/>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2"/>
  <p:tag name="KSO_WM_UNIT_ID" val="diagram20238177_2*l_h_i*2_2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8,&quot;pos&quot;:0.5400000214576721,&quot;transparency&quot;:0},{&quot;brightness&quot;:0.4000000059604645,&quot;colorType&quot;:1,&quot;foreColorIndex&quot;:8,&quot;pos&quot;:0,&quot;transparency&quot;:0},{&quot;brightness&quot;:0.4000000059604645,&quot;colorType&quot;:1,&quot;foreColorIndex&quot;:8,&quot;pos&quot;:1,&quot;transparency&quot;:0}],&quot;type&quot;:3},&quot;glow&quot;:{&quot;colorType&quot;:0},&quot;line&quot;:{&quot;gradient&quot;:[{&quot;brightness&quot;:0.949999988079071,&quot;colorType&quot;:1,&quot;foreColorIndex&quot;:5,&quot;pos&quot;:0.3199999928474426,&quot;transparency&quot;:0},{&quot;brightness&quot;:0.800000011920929,&quot;colorType&quot;:1,&quot;foreColorIndex&quot;:8,&quot;pos&quot;:0,&quot;transparency&quot;:0},{&quot;brightness&quot;:0,&quot;colorType&quot;:1,&quot;foreColorIndex&quot;:14,&quot;pos&quot;:1,&quot;transparency&quot;:0},{&quot;brightness&quot;:0.800000011920929,&quot;colorType&quot;:1,&quot;foreColorIndex&quot;:8,&quot;pos&quot;:0.7099999785423279,&quot;transparency&quot;:0}],&quot;type&quot;:2},&quot;shadow&quot;:{&quot;brightness&quot;:0,&quot;colorType&quot;:1,&quot;foreColorIndex&quot;:8,&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02"/>
  <p:tag name="KSO_WM_UNIT_FILL_TYPE" val="3"/>
  <p:tag name="KSO_WM_DIAGRAM_USE_COLOR_VALUE" val="{&quot;color_scheme&quot;:1,&quot;color_type&quot;:1,&quot;theme_color_indexes&quot;:[]}"/>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2"/>
  <p:tag name="KSO_WM_UNIT_ID" val="diagram20238177_2*l_h_i*2_3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03"/>
  <p:tag name="KSO_WM_UNIT_FILL_TYPE" val="3"/>
  <p:tag name="KSO_WM_DIAGRAM_USE_COLOR_VALUE" val="{&quot;color_scheme&quot;:1,&quot;color_type&quot;:1,&quot;theme_color_indexes&quot;:[]}"/>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2"/>
  <p:tag name="KSO_WM_UNIT_ID" val="diagram20238177_2*l_h_i*2_1_2"/>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1"/>
  <p:tag name="KSO_WM_UNIT_ID" val="diagram20238177_2*l_h_i*2_3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1"/>
  <p:tag name="KSO_WM_UNIT_ID" val="diagram20238177_2*l_h_i*2_2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1,&quot;foreColorIndex&quot;:8,&quot;pos&quot;:0,&quot;transparency&quot;:0},{&quot;brightness&quot;:0,&quot;colorType&quot;:1,&quot;foreColorIndex&quot;:8,&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2"/>
  <p:tag name="KSO_WM_TEMPLATE_CATEGORY" val="diagram"/>
  <p:tag name="KSO_WM_TEMPLATE_INDEX" val="20238177"/>
  <p:tag name="KSO_WM_UNIT_LAYERLEVEL" val="1_1"/>
  <p:tag name="KSO_WM_TAG_VERSION" val="3.0"/>
  <p:tag name="KSO_WM_UNIT_TYPE" val="l_i"/>
  <p:tag name="KSO_WM_UNIT_INDEX" val="2_2"/>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1"/>
  <p:tag name="KSO_WM_TEMPLATE_CATEGORY" val="diagram"/>
  <p:tag name="KSO_WM_TEMPLATE_INDEX" val="20238177"/>
  <p:tag name="KSO_WM_UNIT_LAYERLEVEL" val="1_1"/>
  <p:tag name="KSO_WM_TAG_VERSION" val="3.0"/>
  <p:tag name="KSO_WM_UNIT_TYPE" val="l_i"/>
  <p:tag name="KSO_WM_UNIT_INDEX" val="2_1"/>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20.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16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2.xml><?xml version="1.0" encoding="utf-8"?>
<p:tagLst xmlns:p="http://schemas.openxmlformats.org/presentationml/2006/main">
  <p:tag name="KSO_WM_BEAUTIFY_FLAG" val="#wm#"/>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8195_1*m_h_i*1_2_3"/>
  <p:tag name="KSO_WM_TEMPLATE_CATEGORY" val="diagram"/>
  <p:tag name="KSO_WM_TEMPLATE_INDEX" val="20238195"/>
  <p:tag name="KSO_WM_UNIT_LAYERLEVEL" val="1_1_1"/>
  <p:tag name="KSO_WM_TAG_VERSION" val="3.0"/>
  <p:tag name="KSO_WM_DIAGRAM_MAX_ITEMCNT" val="6"/>
  <p:tag name="KSO_WM_DIAGRAM_MIN_ITEMCNT" val="2"/>
  <p:tag name="KSO_WM_DIAGRAM_VIRTUALLY_FRAME" val="{&quot;height&quot;:474.06512451171875,&quot;left&quot;:-2.025,&quot;top&quot;:118.93487548828125,&quot;width&quot;:961.6}"/>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DIAGRAM_USE_COLOR_VALUE" val="{&quot;color_scheme&quot;:1,&quot;color_type&quot;:1,&quot;theme_color_indexes&quot;:[]}"/>
</p:tagLst>
</file>

<file path=ppt/tags/tag223.xml><?xml version="1.0" encoding="utf-8"?>
<p:tagLst xmlns:p="http://schemas.openxmlformats.org/presentationml/2006/main">
  <p:tag name="KSO_WM_BEAUTIFY_FLAG" val="#wm#"/>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8195_1*m_h_i*1_1_2"/>
  <p:tag name="KSO_WM_TEMPLATE_CATEGORY" val="diagram"/>
  <p:tag name="KSO_WM_TEMPLATE_INDEX" val="20238195"/>
  <p:tag name="KSO_WM_UNIT_LAYERLEVEL" val="1_1_1"/>
  <p:tag name="KSO_WM_TAG_VERSION" val="3.0"/>
  <p:tag name="KSO_WM_DIAGRAM_MAX_ITEMCNT" val="6"/>
  <p:tag name="KSO_WM_DIAGRAM_MIN_ITEMCNT" val="2"/>
  <p:tag name="KSO_WM_DIAGRAM_VIRTUALLY_FRAME" val="{&quot;height&quot;:474.06512451171875,&quot;left&quot;:-2.025,&quot;top&quot;:118.93487548828125,&quot;width&quot;:961.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2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1_1"/>
  <p:tag name="KSO_WM_UNIT_ID" val="diagram20238195_1*m_h_f*1_1_1"/>
  <p:tag name="KSO_WM_TEMPLATE_CATEGORY" val="diagram"/>
  <p:tag name="KSO_WM_TEMPLATE_INDEX" val="20238195"/>
  <p:tag name="KSO_WM_UNIT_LAYERLEVEL" val="1_1_1"/>
  <p:tag name="KSO_WM_TAG_VERSION" val="3.0"/>
  <p:tag name="KSO_WM_BEAUTIFY_FLAG" val="#wm#"/>
  <p:tag name="KSO_WM_DIAGRAM_VERSION" val="3"/>
  <p:tag name="KSO_WM_DIAGRAM_COLOR_TRICK" val="4"/>
  <p:tag name="KSO_WM_DIAGRAM_COLOR_TEXT_CAN_REMOVE" val="n"/>
  <p:tag name="KSO_WM_DIAGRAM_GROUP_CODE" val="m1-1"/>
  <p:tag name="KSO_WM_UNIT_VALUE" val="22"/>
  <p:tag name="KSO_WM_DIAGRAM_MAX_ITEMCNT" val="6"/>
  <p:tag name="KSO_WM_DIAGRAM_MIN_ITEMCNT" val="2"/>
  <p:tag name="KSO_WM_DIAGRAM_VIRTUALLY_FRAME" val="{&quot;height&quot;:474.06512451171875,&quot;left&quot;:-2.025,&quot;top&quot;:118.93487548828125,&quot;width&quot;:96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22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2_1"/>
  <p:tag name="KSO_WM_UNIT_ID" val="diagram20238195_1*m_h_f*1_2_1"/>
  <p:tag name="KSO_WM_TEMPLATE_CATEGORY" val="diagram"/>
  <p:tag name="KSO_WM_TEMPLATE_INDEX" val="20238195"/>
  <p:tag name="KSO_WM_UNIT_LAYERLEVEL" val="1_1_1"/>
  <p:tag name="KSO_WM_TAG_VERSION" val="3.0"/>
  <p:tag name="KSO_WM_BEAUTIFY_FLAG" val="#wm#"/>
  <p:tag name="KSO_WM_DIAGRAM_VERSION" val="3"/>
  <p:tag name="KSO_WM_DIAGRAM_COLOR_TRICK" val="4"/>
  <p:tag name="KSO_WM_DIAGRAM_COLOR_TEXT_CAN_REMOVE" val="n"/>
  <p:tag name="KSO_WM_DIAGRAM_GROUP_CODE" val="m1-1"/>
  <p:tag name="KSO_WM_UNIT_VALUE" val="22"/>
  <p:tag name="KSO_WM_DIAGRAM_MAX_ITEMCNT" val="6"/>
  <p:tag name="KSO_WM_DIAGRAM_MIN_ITEMCNT" val="2"/>
  <p:tag name="KSO_WM_DIAGRAM_VIRTUALLY_FRAME" val="{&quot;height&quot;:474.06512451171875,&quot;left&quot;:-2.025,&quot;top&quot;:118.93487548828125,&quot;width&quot;:96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22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2_1"/>
  <p:tag name="KSO_WM_UNIT_ID" val="diagram20238195_1*m_h_f*1_2_1"/>
  <p:tag name="KSO_WM_TEMPLATE_CATEGORY" val="diagram"/>
  <p:tag name="KSO_WM_TEMPLATE_INDEX" val="20238195"/>
  <p:tag name="KSO_WM_UNIT_LAYERLEVEL" val="1_1_1"/>
  <p:tag name="KSO_WM_TAG_VERSION" val="3.0"/>
  <p:tag name="KSO_WM_BEAUTIFY_FLAG" val="#wm#"/>
  <p:tag name="KSO_WM_DIAGRAM_VERSION" val="3"/>
  <p:tag name="KSO_WM_DIAGRAM_COLOR_TRICK" val="4"/>
  <p:tag name="KSO_WM_DIAGRAM_COLOR_TEXT_CAN_REMOVE" val="n"/>
  <p:tag name="KSO_WM_DIAGRAM_GROUP_CODE" val="m1-1"/>
  <p:tag name="KSO_WM_UNIT_VALUE" val="22"/>
  <p:tag name="KSO_WM_DIAGRAM_MAX_ITEMCNT" val="6"/>
  <p:tag name="KSO_WM_DIAGRAM_MIN_ITEMCNT" val="2"/>
  <p:tag name="KSO_WM_DIAGRAM_VIRTUALLY_FRAME" val="{&quot;height&quot;:474.06512451171875,&quot;left&quot;:-2.025,&quot;top&quot;:118.93487548828125,&quot;width&quot;:96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227.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756,3314129]}"/>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4.xml><?xml version="1.0" encoding="utf-8"?>
<p:tagLst xmlns:p="http://schemas.openxmlformats.org/presentationml/2006/main">
  <p:tag name="KSO_WM_BEAUTIFY_FLAG" val="#wm#"/>
  <p:tag name="KSO_WM_TEMPLATE_CATEGORY" val="custom"/>
  <p:tag name="KSO_WM_TEMPLATE_INDEX" val="2020508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9.xml><?xml version="1.0" encoding="utf-8"?>
<p:tagLst xmlns:p="http://schemas.openxmlformats.org/presentationml/2006/main">
  <p:tag name="KSO_WM_BEAUTIFY_FLAG" val="#wm#"/>
  <p:tag name="KSO_WM_TEMPLATE_CATEGORY" val="custom"/>
  <p:tag name="KSO_WM_TEMPLATE_INDEX" val="20205081"/>
</p:tagLst>
</file>

<file path=ppt/tags/tag240.xml><?xml version="1.0" encoding="utf-8"?>
<p:tagLst xmlns:p="http://schemas.openxmlformats.org/presentationml/2006/main">
  <p:tag name="resource_record_key" val="{&quot;65&quot;:[20205081],&quot;70&quot;:[3312345,3322019,3320039,3322444,3312756,3314129,331216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7133</Words>
  <Application>WPS Presentation</Application>
  <PresentationFormat>Widescreen</PresentationFormat>
  <Paragraphs>252</Paragraphs>
  <Slides>25</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25</vt:i4>
      </vt:variant>
    </vt:vector>
  </HeadingPairs>
  <TitlesOfParts>
    <vt:vector size="36" baseType="lpstr">
      <vt:lpstr>Arial</vt:lpstr>
      <vt:lpstr>SimSun</vt:lpstr>
      <vt:lpstr>Wingdings</vt:lpstr>
      <vt:lpstr>Wingdings</vt:lpstr>
      <vt:lpstr>Montserrat SemiBold</vt:lpstr>
      <vt:lpstr>Times New Roman</vt:lpstr>
      <vt:lpstr>Microsoft YaHei</vt:lpstr>
      <vt:lpstr>Arial Unicode MS</vt:lpstr>
      <vt:lpstr>Calibri</vt:lpstr>
      <vt:lpstr>WPS</vt:lpstr>
      <vt:lpstr>1_WPS</vt:lpstr>
      <vt:lpstr>Global Superstore Sales Performance Analysis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lpstr>Appendix: Sample SQL Queries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Superstore Sales Performance Analysis</dc:title>
  <dc:creator>Bussie</dc:creator>
  <cp:lastModifiedBy>Omoniyi Busayo</cp:lastModifiedBy>
  <cp:revision>7</cp:revision>
  <dcterms:created xsi:type="dcterms:W3CDTF">2026-07-08T15:58:00Z</dcterms:created>
  <dcterms:modified xsi:type="dcterms:W3CDTF">2026-08-03T11:09:52Z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DCC0008398774BA388377F177466949F_11</vt:lpwstr>
  </property>
</Properties>
</file>